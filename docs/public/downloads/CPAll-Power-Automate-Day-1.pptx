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8e0b80f3534b31" /><Relationship Type="http://schemas.openxmlformats.org/officeDocument/2006/relationships/extended-properties" Target="/docProps/app.xml" Id="R50ccb680d8084a71" /><Relationship Type="http://schemas.openxmlformats.org/officeDocument/2006/relationships/officeDocument" Target="/ppt/presentation.xml" Id="R19d96ff7b29649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1b787b45dba4605"/>
  </p:sldMasterIdLst>
  <p:notesMasterIdLst>
    <p:notesMasterId xmlns:r="http://schemas.openxmlformats.org/officeDocument/2006/relationships" r:id="Rb6513f92f00c49f1"/>
  </p:notesMasterIdLst>
  <p:sldIdLst>
    <p:sldId xmlns:r="http://schemas.openxmlformats.org/officeDocument/2006/relationships" id="256" r:id="Rd97261eaaed54fc0"/>
    <p:sldId xmlns:r="http://schemas.openxmlformats.org/officeDocument/2006/relationships" id="257" r:id="Rad85941a176e42b2"/>
    <p:sldId xmlns:r="http://schemas.openxmlformats.org/officeDocument/2006/relationships" id="258" r:id="R866954dba3884eeb"/>
    <p:sldId xmlns:r="http://schemas.openxmlformats.org/officeDocument/2006/relationships" id="259" r:id="Rc95982950778465c"/>
    <p:sldId xmlns:r="http://schemas.openxmlformats.org/officeDocument/2006/relationships" id="260" r:id="Rebdcb165480e47a3"/>
    <p:sldId xmlns:r="http://schemas.openxmlformats.org/officeDocument/2006/relationships" id="261" r:id="Ra885affa79944988"/>
    <p:sldId xmlns:r="http://schemas.openxmlformats.org/officeDocument/2006/relationships" id="262" r:id="Re728248a1ec44ac9"/>
    <p:sldId xmlns:r="http://schemas.openxmlformats.org/officeDocument/2006/relationships" id="263" r:id="Re005d4b4b30543ca"/>
    <p:sldId xmlns:r="http://schemas.openxmlformats.org/officeDocument/2006/relationships" id="264" r:id="R46d05e2004a94bb7"/>
    <p:sldId xmlns:r="http://schemas.openxmlformats.org/officeDocument/2006/relationships" id="265" r:id="R7f14b37d58804db8"/>
    <p:sldId xmlns:r="http://schemas.openxmlformats.org/officeDocument/2006/relationships" id="266" r:id="Rb76de04ab0a3418d"/>
    <p:sldId xmlns:r="http://schemas.openxmlformats.org/officeDocument/2006/relationships" id="267" r:id="Rdf7e6012bbcc4215"/>
    <p:sldId xmlns:r="http://schemas.openxmlformats.org/officeDocument/2006/relationships" id="268" r:id="Rda05934d58ce4b9f"/>
    <p:sldId xmlns:r="http://schemas.openxmlformats.org/officeDocument/2006/relationships" id="269" r:id="Rb419314befcf41f7"/>
    <p:sldId xmlns:r="http://schemas.openxmlformats.org/officeDocument/2006/relationships" id="270" r:id="R89a7a9eb28a440a3"/>
    <p:sldId xmlns:r="http://schemas.openxmlformats.org/officeDocument/2006/relationships" id="271" r:id="R60f291d60bb14134"/>
    <p:sldId xmlns:r="http://schemas.openxmlformats.org/officeDocument/2006/relationships" id="272" r:id="R3d40a1206a2a4be7"/>
    <p:sldId xmlns:r="http://schemas.openxmlformats.org/officeDocument/2006/relationships" id="273" r:id="R6ad7e7d1876843bc"/>
    <p:sldId xmlns:r="http://schemas.openxmlformats.org/officeDocument/2006/relationships" id="274" r:id="R654082119f7f4d83"/>
    <p:sldId xmlns:r="http://schemas.openxmlformats.org/officeDocument/2006/relationships" id="275" r:id="Rb3c2d07a2f184ea0"/>
    <p:sldId xmlns:r="http://schemas.openxmlformats.org/officeDocument/2006/relationships" id="276" r:id="R14c2de9aa50c4bd6"/>
    <p:sldId xmlns:r="http://schemas.openxmlformats.org/officeDocument/2006/relationships" id="277" r:id="Rd2c13914311449be"/>
    <p:sldId xmlns:r="http://schemas.openxmlformats.org/officeDocument/2006/relationships" id="278" r:id="R092d5832733642ef"/>
    <p:sldId xmlns:r="http://schemas.openxmlformats.org/officeDocument/2006/relationships" id="279" r:id="R6807bbc698454f7a"/>
    <p:sldId xmlns:r="http://schemas.openxmlformats.org/officeDocument/2006/relationships" id="280" r:id="R3a803ef766114a2f"/>
    <p:sldId xmlns:r="http://schemas.openxmlformats.org/officeDocument/2006/relationships" id="281" r:id="R582f4b0f808b4768"/>
    <p:sldId xmlns:r="http://schemas.openxmlformats.org/officeDocument/2006/relationships" id="282" r:id="Rc97f74535e9d429e"/>
    <p:sldId xmlns:r="http://schemas.openxmlformats.org/officeDocument/2006/relationships" id="283" r:id="R2e72fbfa3ad248a8"/>
    <p:sldId xmlns:r="http://schemas.openxmlformats.org/officeDocument/2006/relationships" id="284" r:id="R5f40b5853c6f4a72"/>
    <p:sldId xmlns:r="http://schemas.openxmlformats.org/officeDocument/2006/relationships" id="285" r:id="R6d3c4fdb60014fad"/>
    <p:sldId xmlns:r="http://schemas.openxmlformats.org/officeDocument/2006/relationships" id="286" r:id="R1cd621c48f20479d"/>
    <p:sldId xmlns:r="http://schemas.openxmlformats.org/officeDocument/2006/relationships" id="287" r:id="R4ad5a80a63124657"/>
    <p:sldId xmlns:r="http://schemas.openxmlformats.org/officeDocument/2006/relationships" id="288" r:id="R2786538b1d484433"/>
    <p:sldId xmlns:r="http://schemas.openxmlformats.org/officeDocument/2006/relationships" id="289" r:id="R61c5cb0b42684c64"/>
    <p:sldId xmlns:r="http://schemas.openxmlformats.org/officeDocument/2006/relationships" id="290" r:id="R3c6d1569a2c24791"/>
    <p:sldId xmlns:r="http://schemas.openxmlformats.org/officeDocument/2006/relationships" id="291" r:id="R0c0182931346430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7c2238f856448a1" /><Relationship Type="http://schemas.openxmlformats.org/officeDocument/2006/relationships/slideMaster" Target="/ppt/slideMasters/slideMaster1.xml" Id="R81b787b45dba4605" /><Relationship Type="http://schemas.openxmlformats.org/officeDocument/2006/relationships/notesMaster" Target="/ppt/notesMasters/notesMaster1.xml" Id="Rb6513f92f00c49f1" /><Relationship Type="http://schemas.openxmlformats.org/officeDocument/2006/relationships/presProps" Target="/ppt/presProps.xml" Id="Rdee5f6b630d84609" /><Relationship Type="http://schemas.openxmlformats.org/officeDocument/2006/relationships/tableStyles" Target="/ppt/tableStyles.xml" Id="R0c334c8340704897" /><Relationship Type="http://schemas.openxmlformats.org/officeDocument/2006/relationships/slide" Target="/ppt/slides/slide1.xml" Id="Rd97261eaaed54fc0" /><Relationship Type="http://schemas.openxmlformats.org/officeDocument/2006/relationships/slide" Target="/ppt/slides/slide2.xml" Id="Rad85941a176e42b2" /><Relationship Type="http://schemas.openxmlformats.org/officeDocument/2006/relationships/slide" Target="/ppt/slides/slide3.xml" Id="R866954dba3884eeb" /><Relationship Type="http://schemas.openxmlformats.org/officeDocument/2006/relationships/slide" Target="/ppt/slides/slide4.xml" Id="Rc95982950778465c" /><Relationship Type="http://schemas.openxmlformats.org/officeDocument/2006/relationships/slide" Target="/ppt/slides/slide5.xml" Id="Rebdcb165480e47a3" /><Relationship Type="http://schemas.openxmlformats.org/officeDocument/2006/relationships/slide" Target="/ppt/slides/slide6.xml" Id="Ra885affa79944988" /><Relationship Type="http://schemas.openxmlformats.org/officeDocument/2006/relationships/slide" Target="/ppt/slides/slide7.xml" Id="Re728248a1ec44ac9" /><Relationship Type="http://schemas.openxmlformats.org/officeDocument/2006/relationships/slide" Target="/ppt/slides/slide8.xml" Id="Re005d4b4b30543ca" /><Relationship Type="http://schemas.openxmlformats.org/officeDocument/2006/relationships/slide" Target="/ppt/slides/slide9.xml" Id="R46d05e2004a94bb7" /><Relationship Type="http://schemas.openxmlformats.org/officeDocument/2006/relationships/slide" Target="/ppt/slides/slide10.xml" Id="R7f14b37d58804db8" /><Relationship Type="http://schemas.openxmlformats.org/officeDocument/2006/relationships/slide" Target="/ppt/slides/slide11.xml" Id="Rb76de04ab0a3418d" /><Relationship Type="http://schemas.openxmlformats.org/officeDocument/2006/relationships/slide" Target="/ppt/slides/slide12.xml" Id="Rdf7e6012bbcc4215" /><Relationship Type="http://schemas.openxmlformats.org/officeDocument/2006/relationships/slide" Target="/ppt/slides/slide13.xml" Id="Rda05934d58ce4b9f" /><Relationship Type="http://schemas.openxmlformats.org/officeDocument/2006/relationships/slide" Target="/ppt/slides/slide14.xml" Id="Rb419314befcf41f7" /><Relationship Type="http://schemas.openxmlformats.org/officeDocument/2006/relationships/slide" Target="/ppt/slides/slide15.xml" Id="R89a7a9eb28a440a3" /><Relationship Type="http://schemas.openxmlformats.org/officeDocument/2006/relationships/slide" Target="/ppt/slides/slide16.xml" Id="R60f291d60bb14134" /><Relationship Type="http://schemas.openxmlformats.org/officeDocument/2006/relationships/slide" Target="/ppt/slides/slide17.xml" Id="R3d40a1206a2a4be7" /><Relationship Type="http://schemas.openxmlformats.org/officeDocument/2006/relationships/slide" Target="/ppt/slides/slide18.xml" Id="R6ad7e7d1876843bc" /><Relationship Type="http://schemas.openxmlformats.org/officeDocument/2006/relationships/slide" Target="/ppt/slides/slide19.xml" Id="R654082119f7f4d83" /><Relationship Type="http://schemas.openxmlformats.org/officeDocument/2006/relationships/slide" Target="/ppt/slides/slide20.xml" Id="Rb3c2d07a2f184ea0" /><Relationship Type="http://schemas.openxmlformats.org/officeDocument/2006/relationships/slide" Target="/ppt/slides/slide21.xml" Id="R14c2de9aa50c4bd6" /><Relationship Type="http://schemas.openxmlformats.org/officeDocument/2006/relationships/slide" Target="/ppt/slides/slide22.xml" Id="Rd2c13914311449be" /><Relationship Type="http://schemas.openxmlformats.org/officeDocument/2006/relationships/slide" Target="/ppt/slides/slide23.xml" Id="R092d5832733642ef" /><Relationship Type="http://schemas.openxmlformats.org/officeDocument/2006/relationships/slide" Target="/ppt/slides/slide24.xml" Id="R6807bbc698454f7a" /><Relationship Type="http://schemas.openxmlformats.org/officeDocument/2006/relationships/slide" Target="/ppt/slides/slide25.xml" Id="R3a803ef766114a2f" /><Relationship Type="http://schemas.openxmlformats.org/officeDocument/2006/relationships/slide" Target="/ppt/slides/slide26.xml" Id="R582f4b0f808b4768" /><Relationship Type="http://schemas.openxmlformats.org/officeDocument/2006/relationships/slide" Target="/ppt/slides/slide27.xml" Id="Rc97f74535e9d429e" /><Relationship Type="http://schemas.openxmlformats.org/officeDocument/2006/relationships/slide" Target="/ppt/slides/slide28.xml" Id="R2e72fbfa3ad248a8" /><Relationship Type="http://schemas.openxmlformats.org/officeDocument/2006/relationships/slide" Target="/ppt/slides/slide29.xml" Id="R5f40b5853c6f4a72" /><Relationship Type="http://schemas.openxmlformats.org/officeDocument/2006/relationships/slide" Target="/ppt/slides/slide30.xml" Id="R6d3c4fdb60014fad" /><Relationship Type="http://schemas.openxmlformats.org/officeDocument/2006/relationships/slide" Target="/ppt/slides/slide31.xml" Id="R1cd621c48f20479d" /><Relationship Type="http://schemas.openxmlformats.org/officeDocument/2006/relationships/slide" Target="/ppt/slides/slide32.xml" Id="R4ad5a80a63124657" /><Relationship Type="http://schemas.openxmlformats.org/officeDocument/2006/relationships/slide" Target="/ppt/slides/slide33.xml" Id="R2786538b1d484433" /><Relationship Type="http://schemas.openxmlformats.org/officeDocument/2006/relationships/slide" Target="/ppt/slides/slide34.xml" Id="R61c5cb0b42684c64" /><Relationship Type="http://schemas.openxmlformats.org/officeDocument/2006/relationships/slide" Target="/ppt/slides/slide35.xml" Id="R3c6d1569a2c24791" /><Relationship Type="http://schemas.openxmlformats.org/officeDocument/2006/relationships/slide" Target="/ppt/slides/slide36.xml" Id="R0c018293134643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04d27ce9c81446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9165a391264442" /><Relationship Type="http://schemas.openxmlformats.org/officeDocument/2006/relationships/notesMaster" Target="/ppt/notesMasters/notesMaster1.xml" Id="Rc4577fffdc0745b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f32752cd9bb47c2" /><Relationship Type="http://schemas.openxmlformats.org/officeDocument/2006/relationships/notesMaster" Target="/ppt/notesMasters/notesMaster1.xml" Id="R416c549adfcf41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00008b5fce2416d" /><Relationship Type="http://schemas.openxmlformats.org/officeDocument/2006/relationships/notesMaster" Target="/ppt/notesMasters/notesMaster1.xml" Id="R3e9267fc633f4fe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1c7b3651fe40fe" /><Relationship Type="http://schemas.openxmlformats.org/officeDocument/2006/relationships/notesMaster" Target="/ppt/notesMasters/notesMaster1.xml" Id="R9867df75034b431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71511cc9924904" /><Relationship Type="http://schemas.openxmlformats.org/officeDocument/2006/relationships/notesMaster" Target="/ppt/notesMasters/notesMaster1.xml" Id="R788b8e904fb141a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a07c36288d46b0" /><Relationship Type="http://schemas.openxmlformats.org/officeDocument/2006/relationships/notesMaster" Target="/ppt/notesMasters/notesMaster1.xml" Id="R74d77d4ff2f64ca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238526921924fc9" /><Relationship Type="http://schemas.openxmlformats.org/officeDocument/2006/relationships/notesMaster" Target="/ppt/notesMasters/notesMaster1.xml" Id="R84108c5c30834f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da557e8f3c04ffb" /><Relationship Type="http://schemas.openxmlformats.org/officeDocument/2006/relationships/notesMaster" Target="/ppt/notesMasters/notesMaster1.xml" Id="R877b38f7acb348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eadf33700304273" /><Relationship Type="http://schemas.openxmlformats.org/officeDocument/2006/relationships/notesMaster" Target="/ppt/notesMasters/notesMaster1.xml" Id="Rbfbff115b55343d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fa301e356d04f2a" /><Relationship Type="http://schemas.openxmlformats.org/officeDocument/2006/relationships/notesMaster" Target="/ppt/notesMasters/notesMaster1.xml" Id="Rbccfeeec68544f7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861a8faa2eb4498" /><Relationship Type="http://schemas.openxmlformats.org/officeDocument/2006/relationships/notesMaster" Target="/ppt/notesMasters/notesMaster1.xml" Id="R5699ff6c54d34cb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dbe81af16f3460a" /><Relationship Type="http://schemas.openxmlformats.org/officeDocument/2006/relationships/notesMaster" Target="/ppt/notesMasters/notesMaster1.xml" Id="R93c37c07922b457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7a2774dc1d94c7e" /><Relationship Type="http://schemas.openxmlformats.org/officeDocument/2006/relationships/notesMaster" Target="/ppt/notesMasters/notesMaster1.xml" Id="R5c5ef084d031497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a748958d59d4d6d" /><Relationship Type="http://schemas.openxmlformats.org/officeDocument/2006/relationships/notesMaster" Target="/ppt/notesMasters/notesMaster1.xml" Id="R0b07002fa93044e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edc1c4b4f684aff" /><Relationship Type="http://schemas.openxmlformats.org/officeDocument/2006/relationships/notesMaster" Target="/ppt/notesMasters/notesMaster1.xml" Id="R564c00a917c14b5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a2b6c0eaf9b4e50" /><Relationship Type="http://schemas.openxmlformats.org/officeDocument/2006/relationships/notesMaster" Target="/ppt/notesMasters/notesMaster1.xml" Id="R1350f78e41f1486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3493f36d85c4145" /><Relationship Type="http://schemas.openxmlformats.org/officeDocument/2006/relationships/notesMaster" Target="/ppt/notesMasters/notesMaster1.xml" Id="R4c46e3be37b6421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b724d07b75d453d" /><Relationship Type="http://schemas.openxmlformats.org/officeDocument/2006/relationships/notesMaster" Target="/ppt/notesMasters/notesMaster1.xml" Id="R958ff17b9351483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e584db68759428e" /><Relationship Type="http://schemas.openxmlformats.org/officeDocument/2006/relationships/notesMaster" Target="/ppt/notesMasters/notesMaster1.xml" Id="Rb17f5660b0d646c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f03daf6e98a4969" /><Relationship Type="http://schemas.openxmlformats.org/officeDocument/2006/relationships/notesMaster" Target="/ppt/notesMasters/notesMaster1.xml" Id="R9a14dbcf46a84df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612fd7a356b442f" /><Relationship Type="http://schemas.openxmlformats.org/officeDocument/2006/relationships/notesMaster" Target="/ppt/notesMasters/notesMaster1.xml" Id="R82b72beb2cb9429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860fbeed4fb4373" /><Relationship Type="http://schemas.openxmlformats.org/officeDocument/2006/relationships/notesMaster" Target="/ppt/notesMasters/notesMaster1.xml" Id="R0c27e998472e47b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7c6b90655b247bb" /><Relationship Type="http://schemas.openxmlformats.org/officeDocument/2006/relationships/notesMaster" Target="/ppt/notesMasters/notesMaster1.xml" Id="R6a4854edd27d480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5cab7ac59834af7" /><Relationship Type="http://schemas.openxmlformats.org/officeDocument/2006/relationships/notesMaster" Target="/ppt/notesMasters/notesMaster1.xml" Id="Ra1d10ac02aeb4c5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84e5a1b49e14455" /><Relationship Type="http://schemas.openxmlformats.org/officeDocument/2006/relationships/notesMaster" Target="/ppt/notesMasters/notesMaster1.xml" Id="R26170291f997418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4614370dc9e4854" /><Relationship Type="http://schemas.openxmlformats.org/officeDocument/2006/relationships/notesMaster" Target="/ppt/notesMasters/notesMaster1.xml" Id="R4fc727ad90954a5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c64a905dd504a86" /><Relationship Type="http://schemas.openxmlformats.org/officeDocument/2006/relationships/notesMaster" Target="/ppt/notesMasters/notesMaster1.xml" Id="R7cd4199f93f64c6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c74a4617c184d35" /><Relationship Type="http://schemas.openxmlformats.org/officeDocument/2006/relationships/notesMaster" Target="/ppt/notesMasters/notesMaster1.xml" Id="Rf3dcbf9d978449aa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890b6444fd648db" /><Relationship Type="http://schemas.openxmlformats.org/officeDocument/2006/relationships/notesMaster" Target="/ppt/notesMasters/notesMaster1.xml" Id="Re56f8a2b088f49c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223a01e81a34ee3" /><Relationship Type="http://schemas.openxmlformats.org/officeDocument/2006/relationships/notesMaster" Target="/ppt/notesMasters/notesMaster1.xml" Id="Rb4d23935126446b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fa109e6f53e4c0d" /><Relationship Type="http://schemas.openxmlformats.org/officeDocument/2006/relationships/notesMaster" Target="/ppt/notesMasters/notesMaster1.xml" Id="R0eaa89dd75de428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3b97d6d606c420d" /><Relationship Type="http://schemas.openxmlformats.org/officeDocument/2006/relationships/notesMaster" Target="/ppt/notesMasters/notesMaster1.xml" Id="R2fb98f92644c486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4ef12bd33ba4b27" /><Relationship Type="http://schemas.openxmlformats.org/officeDocument/2006/relationships/notesMaster" Target="/ppt/notesMasters/notesMaster1.xml" Id="Re243ca4a8c944a3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e13fe0290c1642db" /><Relationship Type="http://schemas.openxmlformats.org/officeDocument/2006/relationships/notesMaster" Target="/ppt/notesMasters/notesMaster1.xml" Id="Re1e5fc61c46548b4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459e938300f542e2" /><Relationship Type="http://schemas.openxmlformats.org/officeDocument/2006/relationships/notesMaster" Target="/ppt/notesMasters/notesMaster1.xml" Id="R9e32aa1fd7a74f1b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d4c3173a6eb4a15" /><Relationship Type="http://schemas.openxmlformats.org/officeDocument/2006/relationships/notesMaster" Target="/ppt/notesMasters/notesMaster1.xml" Id="R6853ecde2795460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1: Power Automate Day 1</a:t>
            </a:r>
          </a:p>
          <a:p xmlns:a="http://schemas.openxmlformats.org/drawingml/2006/main">
            <a:r>
              <a:t>Teach: วันนี้เราจะทำให้คำของานหนึ่งรายการเดินทางจาก Form ไปถึงผลแจ้งเตือนได้เอง</a:t>
            </a:r>
          </a:p>
          <a:p xmlns:a="http://schemas.openxmlformats.org/drawingml/2006/main">
            <a:r>
              <a:t>Speaker cue: เปิดด้วยคำถาม “ถ้ามีคำขอ 20 รายการ เราจะรู้ได้อย่างไรว่ารายการใดไปถึงขั้นไหน?”</a:t>
            </a:r>
          </a:p>
          <a:p xmlns:a="http://schemas.openxmlformats.org/drawingml/2006/main">
            <a:r>
              <a:t>Analogy bridge: Back-office operations runner → Power Automate cloud flow → one request moves through the core services, with SharePoint available as an extra filing cabinet.</a:t>
            </a:r>
          </a:p>
          <a:p xmlns:a="http://schemas.openxmlformats.org/drawingml/2006/main">
            <a:r>
              <a:t>Learner link: https://teerasej.github.io/cpall-gosoft-power-automate-2026/</a:t>
            </a:r>
          </a:p>
          <a:p xmlns:a="http://schemas.openxmlformats.org/drawingml/2006/main">
            <a:r>
              <a:t>Analogy reminder: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2: What you will build</a:t>
            </a:r>
          </a:p>
          <a:p xmlns:a="http://schemas.openxmlformats.org/drawingml/2006/main">
            <a:r>
              <a:t>Teach: ผู้เรียนจะเห็นผลจริงของ core connector ทีละตัว และเลือกต่อยอด SharePoint ได้เมื่อห้องพร้อม</a:t>
            </a:r>
          </a:p>
          <a:p xmlns:a="http://schemas.openxmlformats.org/drawingml/2006/main">
            <a:r>
              <a:t>Speaker cue: ย้ำว่าทุกขั้นมีผลที่ตรวจได้ ไม่ต้องจำทุกเมนูพร้อมกัน</a:t>
            </a:r>
          </a:p>
          <a:p xmlns:a="http://schemas.openxmlformats.org/drawingml/2006/main">
            <a:r>
              <a:t>Analogy reminder: SharePoint is an optional filing cabinet, not a core completion requirement.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3: One task-request story</a:t>
            </a:r>
          </a:p>
          <a:p xmlns:a="http://schemas.openxmlformats.org/drawingml/2006/main">
            <a:r>
              <a:t>Teach: เรื่องเดียวตลอดวันช่วยให้เห็นว่าข้อมูลเดิมเดินทางอย่างไร</a:t>
            </a:r>
          </a:p>
          <a:p xmlns:a="http://schemas.openxmlformats.org/drawingml/2006/main">
            <a:r>
              <a:t>Speaker cue: ใช้ข้อมูลสมมติและ workbook ส่วนตัวเท่านั้น</a:t>
            </a:r>
          </a:p>
          <a:p xmlns:a="http://schemas.openxmlformats.org/drawingml/2006/main">
            <a:r>
              <a:t>Analogy bridge: ใบคำขอหนึ่งใบในร้าน → request record เดียว → ติดตาม `RequestId` เดิมตั้งแต่ Form ถึง Teams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4: Success at 16:00</a:t>
            </a:r>
          </a:p>
          <a:p xmlns:a="http://schemas.openxmlformats.org/drawingml/2006/main">
            <a:r>
              <a:t>Teach: สร้าง ทดสอบ ตรวจผลปลายทาง และอ่าน Run history ได้ โดยไม่ต้องผ่าน SharePoint</a:t>
            </a:r>
          </a:p>
          <a:p xmlns:a="http://schemas.openxmlformats.org/drawingml/2006/main">
            <a:r>
              <a:t>Speaker cue: ให้ผู้เรียนเลือกหนึ่งทักษะที่อยากนำไปใช้หลังคลาส</a:t>
            </a:r>
          </a:p>
          <a:p xmlns:a="http://schemas.openxmlformats.org/drawingml/2006/main">
            <a:r>
              <a:t>Core completion: Outlook, Forms, Excel, Approvals, Teams and recovery. SharePoint evidence is optional.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5: What makes a task automatable</a:t>
            </a:r>
          </a:p>
          <a:p xmlns:a="http://schemas.openxmlformats.org/drawingml/2006/main">
            <a:r>
              <a:t>Teach: งานที่เหมาะมีจุดเริ่ม ข้อมูล กติกา และผลลัพธ์ชัด</a:t>
            </a:r>
          </a:p>
          <a:p xmlns:a="http://schemas.openxmlformats.org/drawingml/2006/main">
            <a:r>
              <a:t>Speaker cue: เปรียบ flow กับสูตรอาหาร คนยังเป็นผู้เลือกเมนูและตรวจรส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6: Trigger, Action and Connector</a:t>
            </a:r>
          </a:p>
          <a:p xmlns:a="http://schemas.openxmlformats.org/drawingml/2006/main">
            <a:r>
              <a:t>Teach: Trigger เริ่มงาน, Action ทำงาน, Connector เชื่อมบริการ</a:t>
            </a:r>
          </a:p>
          <a:p xmlns:a="http://schemas.openxmlformats.org/drawingml/2006/main">
            <a:r>
              <a:t>Speaker cue: Trigger คือเหตุการณ์ที่เรียกผู้ช่วยหลังร้าน, Connector คือทางเข้าใช้บริการ, Action คืองานหนึ่งอย่างที่บริการนั้นทำ</a:t>
            </a:r>
          </a:p>
          <a:p xmlns:a="http://schemas.openxmlformats.org/drawingml/2006/main">
            <a:r>
              <a:t>Analogy bridge: ใบคำขอเข้าถาด → Trigger; ทางที่ผู้ช่วยเข้าถึงจุดงาน → Connector; การส่งอีเมลหรือเพิ่มแถว → Action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7: Three cloud flow types</a:t>
            </a:r>
          </a:p>
          <a:p xmlns:a="http://schemas.openxmlformats.org/drawingml/2006/main">
            <a:r>
              <a:t>Teach: Instant เริ่มโดยคน, Automated เริ่มจากเหตุการณ์, Scheduled เริ่มตามเวลา</a:t>
            </a:r>
          </a:p>
          <a:p xmlns:a="http://schemas.openxmlformats.org/drawingml/2006/main">
            <a:r>
              <a:t>Speaker cue: วันนี้ build Instant และ Automated; Scheduled อยู่ใน take-home reference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8: Connector map for today</a:t>
            </a:r>
          </a:p>
          <a:p xmlns:a="http://schemas.openxmlformats.org/drawingml/2006/main">
            <a:r>
              <a:t>Teach: Outlook, Forms, Excel, Approvals และ Teams เป็น core Standard connectors; SharePoint เป็น Standard connector ใน extension</a:t>
            </a:r>
          </a:p>
          <a:p xmlns:a="http://schemas.openxmlformats.org/drawingml/2006/main">
            <a:r>
              <a:t>Speaker cue: OneDrive เก็บ workbook ที่เตรียมไว้ ไม่ต้องทำ flow ซ้ำเพื่อพิสูจน์ connector อีกครั้ง</a:t>
            </a:r>
          </a:p>
          <a:p xmlns:a="http://schemas.openxmlformats.org/drawingml/2006/main">
            <a:r>
              <a:t>Analogy bridge: จุดบริการหลักในหลังร้าน → core Standard connectors → SharePoint เป็นตู้เอกสารเสริมเมื่อพื้นที่พร้อม.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9: Permission and policy still matter</a:t>
            </a:r>
          </a:p>
          <a:p xmlns:a="http://schemas.openxmlformats.org/drawingml/2006/main">
            <a:r>
              <a:t>Teach: Standard connector ยังต้องมีบัญชี connection, permission และ DLP policy ที่อนุญาต</a:t>
            </a:r>
          </a:p>
          <a:p xmlns:a="http://schemas.openxmlformats.org/drawingml/2006/main">
            <a:r>
              <a:t>Speaker cue: เปรียบกับบัตรโดยสารที่ยังต้องขึ้นรถสายถูกและผ่านประตูที่เปิด</a:t>
            </a:r>
          </a:p>
          <a:p xmlns:a="http://schemas.openxmlformats.org/drawingml/2006/main">
            <a:r>
              <a:t>Learner link: [Instructor readiness](./instructor-readiness-checklist.md)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10: Safe data and human checks</a:t>
            </a:r>
          </a:p>
          <a:p xmlns:a="http://schemas.openxmlformats.org/drawingml/2006/main">
            <a:r>
              <a:t>Teach: ใช้ข้อมูลสมมติ ตรวจผลจริง และไม่ส่งข้อมูลลับออกนอกระบบที่กำหนด</a:t>
            </a:r>
          </a:p>
          <a:p xmlns:a="http://schemas.openxmlformats.org/drawingml/2006/main">
            <a:r>
              <a:t>Speaker cue: เครื่องหมาย Succeeded ไม่แทนการตรวจ Inbox, Excel หรือ Teams; ผู้ที่เลือก SharePoint ต้องตรวจไฟล์เพิ่ม</a:t>
            </a:r>
          </a:p>
          <a:p xmlns:a="http://schemas.openxmlformats.org/drawingml/2006/main">
            <a:r>
              <a:t>Analogy reminder: observable evidence matters at every selected destination.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11: The smallest useful flow</a:t>
            </a:r>
          </a:p>
          <a:p xmlns:a="http://schemas.openxmlformats.org/drawingml/2006/main">
            <a:r>
              <a:t>Teach: Manual trigger รับข้อมูลแล้ว `Send an email (V2)` ส่งผลทันที</a:t>
            </a:r>
          </a:p>
          <a:p xmlns:a="http://schemas.openxmlformats.org/drawingml/2006/main">
            <a:r>
              <a:t>Speaker cue: เริ่มเล็กเหมือนทดลองกดกริ่งก่อนต่อระบบทั้งบ้าน</a:t>
            </a:r>
          </a:p>
          <a:p xmlns:a="http://schemas.openxmlformats.org/drawingml/2006/main">
            <a:r>
              <a:t>Learner link: [Exercise 1](./exercises/01-first-task-notification/README.md)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12: Trigger inputs</a:t>
            </a:r>
          </a:p>
          <a:p xmlns:a="http://schemas.openxmlformats.org/drawingml/2006/main">
            <a:r>
              <a:t>Teach: `TaskTitle` และ `RecipientEmail` เป็นข้อมูลที่ flow ต้องใช้</a:t>
            </a:r>
          </a:p>
          <a:p xmlns:a="http://schemas.openxmlformats.org/drawingml/2006/main">
            <a:r>
              <a:t>Speaker cue: ให้ผู้เรียนตรวจชนิดและชื่อ input ก่อนเพิ่ม action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13: Map Dynamic content</a:t>
            </a:r>
          </a:p>
          <a:p xmlns:a="http://schemas.openxmlformats.org/drawingml/2006/main">
            <a:r>
              <a:t>Teach: Output ของ trigger กลายเป็น input ของ Outlook action</a:t>
            </a:r>
          </a:p>
          <a:p xmlns:a="http://schemas.openxmlformats.org/drawingml/2006/main">
            <a:r>
              <a:t>Speaker cue: เปรียบ Dynamic content กับช่องว่างในจดหมายเวียน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14: Inbox is the checkpoint</a:t>
            </a:r>
          </a:p>
          <a:p xmlns:a="http://schemas.openxmlformats.org/drawingml/2006/main">
            <a:r>
              <a:t>Teach: Run ต้อง Succeeded และอีเมลต้องมาถึงพร้อมค่าที่ถูกต้อง</a:t>
            </a:r>
          </a:p>
          <a:p xmlns:a="http://schemas.openxmlformats.org/drawingml/2006/main">
            <a:r>
              <a:t>Speaker cue: ให้ผู้เรียนเทียบค่าที่กรอกกับอีเมล ไม่หยุดที่เครื่องหมายสีเขียว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15: A Form starts the request</a:t>
            </a:r>
          </a:p>
          <a:p xmlns:a="http://schemas.openxmlformats.org/drawingml/2006/main">
            <a:r>
              <a:t>Teach: Form ทำให้ข้อมูลเริ่มต้นครบและเป็นรูปแบบเดียวกัน</a:t>
            </a:r>
          </a:p>
          <a:p xmlns:a="http://schemas.openxmlformats.org/drawingml/2006/main">
            <a:r>
              <a:t>Speaker cue: ชี้ว่าฟอร์มเหมือนใบรับเรื่อง ไม่ใช่ฐานข้อมูล</a:t>
            </a:r>
          </a:p>
          <a:p xmlns:a="http://schemas.openxmlformats.org/drawingml/2006/main">
            <a:r>
              <a:t>Learner link: [Exercise 2](./exercises/02-collect-and-record-requests/README.md)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16: One response, one row</a:t>
            </a:r>
          </a:p>
          <a:p xmlns:a="http://schemas.openxmlformats.org/drawingml/2006/main">
            <a:r>
              <a:t>Teach: `When a new response is submitted` ตามด้วย `Get response details` แล้วเพิ่มหนึ่งแถว</a:t>
            </a:r>
          </a:p>
          <a:p xmlns:a="http://schemas.openxmlformats.org/drawingml/2006/main">
            <a:r>
              <a:t>Speaker cue: หยุดทดสอบเมื่อ response แรกเพิ่ม row ได้ ก่อนต่อขั้นอื่น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17: Prepared personal workbook</a:t>
            </a:r>
          </a:p>
          <a:p xmlns:a="http://schemas.openxmlformats.org/drawingml/2006/main">
            <a:r>
              <a:t>Teach: แต่ละคนใช้ `task-request-tracker.xlsx` ของตนใน OneDrive และ table ชื่อ `RequestsTable`</a:t>
            </a:r>
          </a:p>
          <a:p xmlns:a="http://schemas.openxmlformats.org/drawingml/2006/main">
            <a:r>
              <a:t>Speaker cue: ตรวจ worksheet/table แล้วปิด workbook ก่อน run</a:t>
            </a:r>
          </a:p>
          <a:p xmlns:a="http://schemas.openxmlformats.org/drawingml/2006/main">
            <a:r>
              <a:t>Analogy bridge: สมุดรับเรื่องหลังร้าน → `RequestsTable` → หนึ่ง Form response ต้องเพิ่มหนึ่งแถวและเก็บ `RequestId` ไว้ตามงาน</a:t>
            </a:r>
          </a:p>
          <a:p xmlns:a="http://schemas.openxmlformats.org/drawingml/2006/main">
            <a:r>
              <a:t>Learner link: [Excel tracker](./files/task-request-tracker.xlsx)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18: Map the eight columns</a:t>
            </a:r>
          </a:p>
          <a:p xmlns:a="http://schemas.openxmlformats.org/drawingml/2006/main">
            <a:r>
              <a:t>Teach: `RequestId` เป็น key; fields อื่นเก็บเรื่อง ผู้ขอ หมวด วันต้องการ สถานะ และผลตัดสินใจ</a:t>
            </a:r>
          </a:p>
          <a:p xmlns:a="http://schemas.openxmlformats.org/drawingml/2006/main">
            <a:r>
              <a:t>Speaker cue: `Status` เริ่มเป็น Pending และ `Decision` ยังว่าง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19: RequestId is the tracking number</a:t>
            </a:r>
          </a:p>
          <a:p xmlns:a="http://schemas.openxmlformats.org/drawingml/2006/main">
            <a:r>
              <a:t>Teach: Forms `Response Id` ใช้ค้นหาแถวเดิมในขั้นอนุมัติ</a:t>
            </a:r>
          </a:p>
          <a:p xmlns:a="http://schemas.openxmlformats.org/drawingml/2006/main">
            <a:r>
              <a:t>Speaker cue: เปรียบกับเลขรับเรื่องที่ช่วยไม่ให้อัปเดตผิดรายการ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20: Check the row, not just the run</a:t>
            </a:r>
          </a:p>
          <a:p xmlns:a="http://schemas.openxmlformats.org/drawingml/2006/main">
            <a:r>
              <a:t>Teach: ตรวจว่ามีหนึ่ง row ใหม่และค่าตรงกับ Form</a:t>
            </a:r>
          </a:p>
          <a:p xmlns:a="http://schemas.openxmlformats.org/drawingml/2006/main">
            <a:r>
              <a:t>Speaker cue: รอการอัปเดตแล้ว refresh; อย่าเปิดแก้ workbook ระหว่าง connector เขียน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21: Start and wait for an approval</a:t>
            </a:r>
          </a:p>
          <a:p xmlns:a="http://schemas.openxmlformats.org/drawingml/2006/main">
            <a:r>
              <a:t>Teach: `Start and wait for an approval` ส่งคำขอและรอ `Outcome`</a:t>
            </a:r>
          </a:p>
          <a:p xmlns:a="http://schemas.openxmlformats.org/drawingml/2006/main">
            <a:r>
              <a:t>Speaker cue: ใช้ผู้อนุมัติหนึ่งคนเพื่อให้ผู้เริ่มต้นเห็นผลเร็ว</a:t>
            </a:r>
          </a:p>
          <a:p xmlns:a="http://schemas.openxmlformats.org/drawingml/2006/main">
            <a:r>
              <a:t>Analogy bridge: ผู้ช่วยยื่นใบให้หัวหน้าและรอคำตัดสิน → `Start and wait for an approval` → ตรวจว่า Approve/Reject กลับมาที่ flow</a:t>
            </a:r>
          </a:p>
          <a:p xmlns:a="http://schemas.openxmlformats.org/drawingml/2006/main">
            <a:r>
              <a:t>Learner link: [Exercise 3](./exercises/03-ask-for-a-decision/README.md)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22: Configure the approval</a:t>
            </a:r>
          </a:p>
          <a:p xmlns:a="http://schemas.openxmlformats.org/drawingml/2006/main">
            <a:r>
              <a:t>Teach: Title, Assigned to และ Details ต้องทำให้ผู้อนุมัติตัดสินใจได้</a:t>
            </a:r>
          </a:p>
          <a:p xmlns:a="http://schemas.openxmlformats.org/drawingml/2006/main">
            <a:r>
              <a:t>Speaker cue: ใช้ `Response Id` ใน Details เพื่อย้อนตรวจคำขอ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23: Approval versus email options</a:t>
            </a:r>
          </a:p>
          <a:p xmlns:a="http://schemas.openxmlformats.org/drawingml/2006/main">
            <a:r>
              <a:t>Teach: Email options เป็นคำตอบแบบเบา; Approvals ให้ output และประวัติเฉพาะกระบวนการอนุมัติ</a:t>
            </a:r>
          </a:p>
          <a:p xmlns:a="http://schemas.openxmlformats.org/drawingml/2006/main">
            <a:r>
              <a:t>Speaker cue: อธิบายสั้น ๆ แล้วกลับสู่ action ที่ผู้เรียนกำลังสร้าง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24: Outcome controls the Condition</a:t>
            </a:r>
          </a:p>
          <a:p xmlns:a="http://schemas.openxmlformats.org/drawingml/2006/main">
            <a:r>
              <a:t>Teach: `Outcome is equal to Approve` แยก If yes กับ If no</a:t>
            </a:r>
          </a:p>
          <a:p xmlns:a="http://schemas.openxmlformats.org/drawingml/2006/main">
            <a:r>
              <a:t>Speaker cue: ให้ผู้เรียนพูดกติกาเป็นภาษาคนก่อนสร้าง Condition</a:t>
            </a:r>
          </a:p>
          <a:p xmlns:a="http://schemas.openxmlformats.org/drawingml/2006/main">
            <a:r>
              <a:t>Analogy bridge: ถาดสองสีหลังคำตัดสิน → Condition branches → Approve และ Reject ต้องอัปเดตแถว `RequestId` เดียวกัน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25: Exercise 3 checkpoint and route handoff</a:t>
            </a:r>
          </a:p>
          <a:p xmlns:a="http://schemas.openxmlformats.org/drawingml/2006/main">
            <a:r>
              <a:t>Teach: Exercise 3 ผ่านเมื่อ Approved และ Rejected อัปเดตแถวที่ถูกต้องและส่งอีเมลผลได้</a:t>
            </a:r>
          </a:p>
          <a:p xmlns:a="http://schemas.openxmlformats.org/drawingml/2006/main">
            <a:r>
              <a:t>Speaker cue: เวลา 13:30 ให้เลือกเพียงหนึ่งกิจกรรม—Approval reinforcement หรือ SharePoint extension</a:t>
            </a:r>
          </a:p>
          <a:p xmlns:a="http://schemas.openxmlformats.org/drawingml/2006/main">
            <a:r>
              <a:t>Jump instruction: หากไม่เลือก SharePoint ให้ส่ง direct link ของ Approval reinforcement เมื่อ checkpoint ผ่านแล้ว ข้าม Slides 26–28 และไป Slide 29 ทันที</a:t>
            </a:r>
          </a:p>
          <a:p xmlns:a="http://schemas.openxmlformats.org/drawingml/2006/main">
            <a:r>
              <a:t>Do not show Route A, Route B, or SharePoint build steps to learners assigned to reinforcement.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26: Choose the 13:30 route</a:t>
            </a:r>
          </a:p>
          <a:p xmlns:a="http://schemas.openxmlformats.org/drawingml/2006/main">
            <a:r>
              <a:t>Teach: วิทยากรเลือก Approval reinforcement หรือ SharePoint extension เพียงเส้นทางเดียว</a:t>
            </a:r>
          </a:p>
          <a:p xmlns:a="http://schemas.openxmlformats.org/drawingml/2006/main">
            <a:r>
              <a:t>Speaker cue: ผู้เรียน reinforcement ใช้เฉพาะ checkpoint link; ผู้เรียน SharePoint ใช้ selector หรือ direct route link</a:t>
            </a:r>
          </a:p>
          <a:p xmlns:a="http://schemas.openxmlformats.org/drawingml/2006/main">
            <a:r>
              <a:t>Approval reinforcement: https://teerasej.github.io/cpall-gosoft-power-automate-2026/exercises/07-core-approval-reinforcement</a:t>
            </a:r>
          </a:p>
          <a:p xmlns:a="http://schemas.openxmlformats.org/drawingml/2006/main">
            <a:r>
              <a:t>SharePoint selector: https://teerasej.github.io/cpall-gosoft-power-automate-2026/exercises/07-archive-approved-request-in-sharepoint</a:t>
            </a:r>
          </a:p>
          <a:p xmlns:a="http://schemas.openxmlformats.org/drawingml/2006/main">
            <a:r>
              <a:t>Both paths rejoin at Exercise 8 and Slide 29.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27: SharePoint readiness routes</a:t>
            </a:r>
          </a:p>
          <a:p xmlns:a="http://schemas.openxmlformats.org/drawingml/2006/main">
            <a:r>
              <a:t>Teach: Route A สร้างและตรวจ private Team site; Route B ตรวจ site ที่ IT เตรียมให้ ผู้เรียนเปิดเพียง route เดียว</a:t>
            </a:r>
          </a:p>
          <a:p xmlns:a="http://schemas.openxmlformats.org/drawingml/2006/main">
            <a:r>
              <a:t>Speaker cue: ส่ง direct link ของ route ที่เลือก ไม่ให้ผู้เรียนอ่านหรือทำอีก route; หาก Upload / Open / Delete ไม่ผ่านให้กลับ reinforcement หรือ Teams</a:t>
            </a:r>
          </a:p>
          <a:p xmlns:a="http://schemas.openxmlformats.org/drawingml/2006/main">
            <a:r>
              <a:t>Route A: https://teerasej.github.io/cpall-gosoft-power-automate-2026/exercises/07a-create-and-validate-own-site</a:t>
            </a:r>
          </a:p>
          <a:p xmlns:a="http://schemas.openxmlformats.org/drawingml/2006/main">
            <a:r>
              <a:t>Route B: https://teerasej.github.io/cpall-gosoft-power-automate-2026/exercises/07b-validate-it-provided-site</a:t>
            </a:r>
          </a:p>
          <a:p xmlns:a="http://schemas.openxmlformats.org/drawingml/2006/main">
            <a:r>
              <a:t>Source: https://support.microsoft.com/office/create-a-team-site-in-sharepoint-ef10c1e7-15f3-42a3-98aa-b5972711777d</a:t>
            </a:r>
          </a:p>
          <a:p xmlns:a="http://schemas.openxmlformats.org/drawingml/2006/main">
            <a:r>
              <a:t>Source: https://learn.microsoft.com/sharepoint/modern-experience-sharing-permissions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28: Rejoin at the checkpoint</a:t>
            </a:r>
          </a:p>
          <a:p xmlns:a="http://schemas.openxmlformats.org/drawingml/2006/main">
            <a:r>
              <a:t>Teach: Reinforcement พิสูจน์ Response Id ใน Approval, Excel และ email; SharePoint พิสูจน์ Approved มีไฟล์และ Rejected ไม่มีไฟล์</a:t>
            </a:r>
          </a:p>
          <a:p xmlns:a="http://schemas.openxmlformats.org/drawingml/2006/main">
            <a:r>
              <a:t>Speaker cue: บันทึก SharePoint เป็น Passed, Skipped by instructor หรือ Blocked; ไม่มีสถานะใดขวาง Exercise 8</a:t>
            </a:r>
          </a:p>
          <a:p xmlns:a="http://schemas.openxmlformats.org/drawingml/2006/main">
            <a:r>
              <a:t>If readiness fails, stop the SharePoint extension and move to reinforcement or Teams without changing to another person's connection.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29: Add a direct Teams result</a:t>
            </a:r>
          </a:p>
          <a:p xmlns:a="http://schemas.openxmlformats.org/drawingml/2006/main">
            <a:r>
              <a:t>Teach: `Post message in a chat or channel` ส่งผลไปยัง direct chat โดยไม่ต้องสร้าง Team/channel</a:t>
            </a:r>
          </a:p>
          <a:p xmlns:a="http://schemas.openxmlformats.org/drawingml/2006/main">
            <a:r>
              <a:t>Speaker cue: Workflows app และ connector path ต้องผ่าน rehearsal</a:t>
            </a:r>
          </a:p>
          <a:p xmlns:a="http://schemas.openxmlformats.org/drawingml/2006/main">
            <a:r>
              <a:t>Analogy bridge: ผู้ช่วยแจ้งผลกลับจุดรับเรื่อง → Teams direct chat → ทั้ง Approved และ Rejected ต้องมีข้อความผลลัพธ์</a:t>
            </a:r>
          </a:p>
          <a:p xmlns:a="http://schemas.openxmlformats.org/drawingml/2006/main">
            <a:r>
              <a:t>Learner link: [Exercise 8](./exercises/08-notify-requester-in-teams/README.md)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30: Map recipient and message</a:t>
            </a:r>
          </a:p>
          <a:p xmlns:a="http://schemas.openxmlformats.org/drawingml/2006/main">
            <a:r>
              <a:t>Teach: Recipient มาจาก `Requester email`; ข้อความมี RequestId, Title, result และ next step</a:t>
            </a:r>
          </a:p>
          <a:p xmlns:a="http://schemas.openxmlformats.org/drawingml/2006/main">
            <a:r>
              <a:t>Speaker cue: ใช้อีเมลฝึกของตนเองและข้อมูลสมมติ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31: Check both Teams messages</a:t>
            </a:r>
          </a:p>
          <a:p xmlns:a="http://schemas.openxmlformats.org/drawingml/2006/main">
            <a:r>
              <a:t>Teach: Approved และ Rejected ต้องส่งข้อความที่ต่างกันและตรงกับ RequestId</a:t>
            </a:r>
          </a:p>
          <a:p xmlns:a="http://schemas.openxmlformats.org/drawingml/2006/main">
            <a:r>
              <a:t>Speaker cue: เปิดข้อความจริงและเทียบกับ Run history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32: Integrated two-path test</a:t>
            </a:r>
          </a:p>
          <a:p xmlns:a="http://schemas.openxmlformats.org/drawingml/2006/main">
            <a:r>
              <a:t>Teach: ทดสอบ Form สองรายการ: Approve หนึ่งรายการและ Reject หนึ่งรายการ</a:t>
            </a:r>
          </a:p>
          <a:p xmlns:a="http://schemas.openxmlformats.org/drawingml/2006/main">
            <a:r>
              <a:t>Speaker cue: Core: Approved and Rejected update Excel and send Teams. Optional SharePoint: Approved creates a file and Rejected does not.</a:t>
            </a:r>
          </a:p>
          <a:p xmlns:a="http://schemas.openxmlformats.org/drawingml/2006/main">
            <a:r>
              <a:t>Learner link: https://teerasej.github.io/cpall-gosoft-power-automate-2026/resources/sample-requests</a:t>
            </a:r>
          </a:p>
          <a:p xmlns:a="http://schemas.openxmlformats.org/drawingml/2006/main">
            <a:r>
              <a:t>Do not mark SharePoint as failed core completion when it was skipped or blocked.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33: Recover from a controlled failure</a:t>
            </a:r>
          </a:p>
          <a:p xmlns:a="http://schemas.openxmlformats.org/drawingml/2006/main">
            <a:r>
              <a:t>Teach: Run history ชี้จุดล้มเหลว และ Run After กำหนดสิ่งที่เกิดเมื่อ action fail</a:t>
            </a:r>
          </a:p>
          <a:p xmlns:a="http://schemas.openxmlformats.org/drawingml/2006/main">
            <a:r>
              <a:t>Speaker cue: ทำ controlled failure หนึ่งครั้ง ซ่อม แล้วพิสูจน์ว่า run ใหม่สำเร็จ</a:t>
            </a:r>
          </a:p>
          <a:p xmlns:a="http://schemas.openxmlformats.org/drawingml/2006/main">
            <a:r>
              <a:t>Analogy bridge: จุดงานหยุดบนกระดานหลังร้าน → Run history and Run After → อ่านจุดล้มเหลว ซ่อม แล้วพิสูจน์ด้วย successful run ใหม่</a:t>
            </a:r>
          </a:p>
          <a:p xmlns:a="http://schemas.openxmlformats.org/drawingml/2006/main">
            <a:r>
              <a:t>Learner link: [Exercise 5](./exercises/05-understand-and-recover-from-errors/README.md)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34: Govern the whole workflow</a:t>
            </a:r>
          </a:p>
          <a:p xmlns:a="http://schemas.openxmlformats.org/drawingml/2006/main">
            <a:r>
              <a:t>Teach: ตรวจ owner, connection, least access, data boundary และ monitoring ก่อนนำไปใช้จริง</a:t>
            </a:r>
          </a:p>
          <a:p xmlns:a="http://schemas.openxmlformats.org/drawingml/2006/main">
            <a:r>
              <a:t>Speaker cue: Governance ไม่ใช่บทท้ายแยกออกมา แต่เป็นกติกาที่ใช้ทุก connector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35: AI Builder overview and demonstration</a:t>
            </a:r>
          </a:p>
          <a:p xmlns:a="http://schemas.openxmlformats.org/drawingml/2006/main">
            <a:r>
              <a:t>Teach: AI Builder เพิ่มการอ่านหรือจัดประเภทข้อมูลใน flow ได้ แต่วันนี้เป็น demo/discussion เท่านั้น</a:t>
            </a:r>
          </a:p>
          <a:p xmlns:a="http://schemas.openxmlformats.org/drawingml/2006/main">
            <a:r>
              <a:t>Speaker cue: สาธิต use case ขนาดเล็กหรือ saved result; ไม่ให้ผู้เรียนเตรียม model/license และไม่เพิ่ม hands-on</a:t>
            </a:r>
          </a:p>
          <a:p xmlns:a="http://schemas.openxmlformats.org/drawingml/2006/main">
            <a:r>
              <a:t>Analogy reminder: the back-office operations runner helps us see how a Power Automate flow carries one request through defined services. Always return to the official connector or action name and the observable Exercise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36: Review and Q&amp;A</a:t>
            </a:r>
          </a:p>
          <a:p xmlns:a="http://schemas.openxmlformats.org/drawingml/2006/main">
            <a:r>
              <a:t>Teach: เลือก Trigger, Connector และ checkpoint ให้เหมาะกับงานจริงหนึ่งเรื่อง</a:t>
            </a:r>
          </a:p>
          <a:p xmlns:a="http://schemas.openxmlformats.org/drawingml/2006/main">
            <a:r>
              <a:t>Speaker cue: ทบทวน Outlook, Forms, Excel, Approvals, Teams และ error recovery; SharePoint เป็นหลักฐานเสริมเมื่อเลือกทำ; จบ 16:00</a:t>
            </a:r>
          </a:p>
          <a:p xmlns:a="http://schemas.openxmlformats.org/drawingml/2006/main">
            <a:r>
              <a:t>Analogy bridge: ผู้ช่วยหลังร้านทำตามขั้นตอนที่กำหนด → Day 1 Power Automate; พรุ่งนี้ผู้ช่วยหน้าเคาน์เตอร์จะสนทนาและส่งงานที่ยืนยันแล้วมาให้ flow.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6b159a19334d1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7b8b8af34ed427e" /><Relationship Type="http://schemas.openxmlformats.org/officeDocument/2006/relationships/slideLayout" Target="/ppt/slideLayouts/slideLayout1.xml" Id="R3a2a0bfd228f4f9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2a0bfd228f4f9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9cd5236e154030" /><Relationship Type="http://schemas.openxmlformats.org/officeDocument/2006/relationships/image" Target="/ppt/media/image.png" Id="R1f2a4af5009c45f0" /><Relationship Type="http://schemas.openxmlformats.org/officeDocument/2006/relationships/notesSlide" Target="/ppt/notesSlides/notesSlide1.xml" Id="R4512d29b4e4a4b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0e817dc0044e84" /><Relationship Type="http://schemas.openxmlformats.org/officeDocument/2006/relationships/notesSlide" Target="/ppt/notesSlides/notesSlide2.xml" Id="R11ce64f546ab46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9e0619be4841d0" /><Relationship Type="http://schemas.openxmlformats.org/officeDocument/2006/relationships/notesSlide" Target="/ppt/notesSlides/notesSlide3.xml" Id="R76f5147b1dee463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783c6311c14742" /><Relationship Type="http://schemas.openxmlformats.org/officeDocument/2006/relationships/notesSlide" Target="/ppt/notesSlides/notesSlide4.xml" Id="R56a9504635fd41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c94a14dcb04ee4" /><Relationship Type="http://schemas.openxmlformats.org/officeDocument/2006/relationships/notesSlide" Target="/ppt/notesSlides/notesSlide5.xml" Id="Rf9139a45f9c9422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a253d5b5d6479c" /><Relationship Type="http://schemas.openxmlformats.org/officeDocument/2006/relationships/image" Target="/ppt/media/image2.png" Id="Raa9f4b5405604331" /><Relationship Type="http://schemas.openxmlformats.org/officeDocument/2006/relationships/notesSlide" Target="/ppt/notesSlides/notesSlide6.xml" Id="R7150518872a04ae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0d54bd9858456d" /><Relationship Type="http://schemas.openxmlformats.org/officeDocument/2006/relationships/notesSlide" Target="/ppt/notesSlides/notesSlide7.xml" Id="Rd38bb9555a5b43a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169300712048ce" /><Relationship Type="http://schemas.openxmlformats.org/officeDocument/2006/relationships/notesSlide" Target="/ppt/notesSlides/notesSlide8.xml" Id="Rbe40333a806b451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3e43122f744de4" /><Relationship Type="http://schemas.openxmlformats.org/officeDocument/2006/relationships/notesSlide" Target="/ppt/notesSlides/notesSlide9.xml" Id="Reb14828b045444b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ff0caa511a4fd7" /><Relationship Type="http://schemas.openxmlformats.org/officeDocument/2006/relationships/notesSlide" Target="/ppt/notesSlides/notesSlide10.xml" Id="Rca52b64ad7c8409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57370788cc403d" /><Relationship Type="http://schemas.openxmlformats.org/officeDocument/2006/relationships/notesSlide" Target="/ppt/notesSlides/notesSlide11.xml" Id="R8481f401d38f489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7724d7feeb461c" /><Relationship Type="http://schemas.openxmlformats.org/officeDocument/2006/relationships/notesSlide" Target="/ppt/notesSlides/notesSlide12.xml" Id="R3698105d8ad7478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031417fc894552" /><Relationship Type="http://schemas.openxmlformats.org/officeDocument/2006/relationships/notesSlide" Target="/ppt/notesSlides/notesSlide13.xml" Id="R0cd6a506ce4542c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e30481d56443e" /><Relationship Type="http://schemas.openxmlformats.org/officeDocument/2006/relationships/notesSlide" Target="/ppt/notesSlides/notesSlide14.xml" Id="Rf429cce8885347f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eb1edbd78c4a24" /><Relationship Type="http://schemas.openxmlformats.org/officeDocument/2006/relationships/notesSlide" Target="/ppt/notesSlides/notesSlide15.xml" Id="R52ee6d8ed2ba48e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d5c49c088c43f4" /><Relationship Type="http://schemas.openxmlformats.org/officeDocument/2006/relationships/notesSlide" Target="/ppt/notesSlides/notesSlide16.xml" Id="R05a2d3516b36413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e0ecf6e9634ec9" /><Relationship Type="http://schemas.openxmlformats.org/officeDocument/2006/relationships/notesSlide" Target="/ppt/notesSlides/notesSlide17.xml" Id="R1d92e3ef26c1472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4d332728964948" /><Relationship Type="http://schemas.openxmlformats.org/officeDocument/2006/relationships/notesSlide" Target="/ppt/notesSlides/notesSlide18.xml" Id="Rd1509a506f884db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e1ba53a1c4bb1" /><Relationship Type="http://schemas.openxmlformats.org/officeDocument/2006/relationships/notesSlide" Target="/ppt/notesSlides/notesSlide19.xml" Id="R5cf9dbb8c951449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57913e70544b82" /><Relationship Type="http://schemas.openxmlformats.org/officeDocument/2006/relationships/notesSlide" Target="/ppt/notesSlides/notesSlide20.xml" Id="Rd683bb11cfe5400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969aa51f9946b5" /><Relationship Type="http://schemas.openxmlformats.org/officeDocument/2006/relationships/image" Target="/ppt/media/image3.png" Id="Rc96bab5b6aa240d9" /><Relationship Type="http://schemas.openxmlformats.org/officeDocument/2006/relationships/notesSlide" Target="/ppt/notesSlides/notesSlide21.xml" Id="R18edec1d2158474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9a94caf39f468f" /><Relationship Type="http://schemas.openxmlformats.org/officeDocument/2006/relationships/notesSlide" Target="/ppt/notesSlides/notesSlide22.xml" Id="R04a6c03bb8d2466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a3f1a468324e22" /><Relationship Type="http://schemas.openxmlformats.org/officeDocument/2006/relationships/notesSlide" Target="/ppt/notesSlides/notesSlide23.xml" Id="R50ee7099890f4e9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7b9f6d54eb49f1" /><Relationship Type="http://schemas.openxmlformats.org/officeDocument/2006/relationships/notesSlide" Target="/ppt/notesSlides/notesSlide24.xml" Id="Rd1c753f32a80404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3b362cafd74391" /><Relationship Type="http://schemas.openxmlformats.org/officeDocument/2006/relationships/notesSlide" Target="/ppt/notesSlides/notesSlide25.xml" Id="Rfa144e6ed18c49d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3a842cdadf4497" /><Relationship Type="http://schemas.openxmlformats.org/officeDocument/2006/relationships/notesSlide" Target="/ppt/notesSlides/notesSlide26.xml" Id="R373e3b17ee01447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783f9dc36f4572" /><Relationship Type="http://schemas.openxmlformats.org/officeDocument/2006/relationships/notesSlide" Target="/ppt/notesSlides/notesSlide27.xml" Id="R42b777c239124d9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dd454ef5a34883" /><Relationship Type="http://schemas.openxmlformats.org/officeDocument/2006/relationships/notesSlide" Target="/ppt/notesSlides/notesSlide28.xml" Id="R99069cc3da93404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99ac0a65a84524" /><Relationship Type="http://schemas.openxmlformats.org/officeDocument/2006/relationships/notesSlide" Target="/ppt/notesSlides/notesSlide29.xml" Id="R9ed0d2f566044d7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81d8ea8ea34d22" /><Relationship Type="http://schemas.openxmlformats.org/officeDocument/2006/relationships/notesSlide" Target="/ppt/notesSlides/notesSlide30.xml" Id="R21f847f7281840e4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a1c30effe0412f" /><Relationship Type="http://schemas.openxmlformats.org/officeDocument/2006/relationships/notesSlide" Target="/ppt/notesSlides/notesSlide31.xml" Id="Rc6ba4d177f9f4ea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3890f183b64820" /><Relationship Type="http://schemas.openxmlformats.org/officeDocument/2006/relationships/notesSlide" Target="/ppt/notesSlides/notesSlide32.xml" Id="R89493e903346494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e4215800bd4932" /><Relationship Type="http://schemas.openxmlformats.org/officeDocument/2006/relationships/image" Target="/ppt/media/image4.png" Id="R64ca3cd8ce71458f" /><Relationship Type="http://schemas.openxmlformats.org/officeDocument/2006/relationships/notesSlide" Target="/ppt/notesSlides/notesSlide33.xml" Id="R9d90ae0fe73a4e4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ae430dfe8541f0" /><Relationship Type="http://schemas.openxmlformats.org/officeDocument/2006/relationships/notesSlide" Target="/ppt/notesSlides/notesSlide34.xml" Id="R52a5155d51474724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1e2635445648d7" /><Relationship Type="http://schemas.openxmlformats.org/officeDocument/2006/relationships/notesSlide" Target="/ppt/notesSlides/notesSlide35.xml" Id="Rad728dca5fb548c6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0a9efcc8b04761" /><Relationship Type="http://schemas.openxmlformats.org/officeDocument/2006/relationships/notesSlide" Target="/ppt/notesSlides/notesSlide36.xml" Id="Rc3d0e764730049e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DF24CC-4E6D-4C34-A9FC-00324ED5A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FOUNDATIONS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648C02-DFA0-47B9-9C96-ADC091A0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Power Automate Day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426452-C39E-4BB3-9E1E-CA1C2A4A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7E3AF0-DA65-4EF5-B28C-F3F1AF715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200459-2836-45C9-B459-BB5290BA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13F2D8-66B3-453D-853E-3163C1B0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D99949-C897-41A8-9FA0-5F717812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00200"/>
            <a:ext cx="500062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8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ผู้ช่วยหลังร้าน</a:t>
            </a:r>
          </a:p>
          <a:p xmlns:a="http://schemas.openxmlformats.org/drawingml/2006/main">
            <a:pPr algn="l">
              <a:buNone/>
              <a:defRPr sz="28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8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ทำตามขั้นตอน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61EBEF-43A4-4836-913B-E40100D11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71800"/>
            <a:ext cx="495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วันนี้เราจะทำให้คำของานหนึ่งรายการเดินทางจาก Form ไปถึงผลแจ้งเตือนได้เอง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2B182B-5C39-485E-A888-A28C9B750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76750"/>
            <a:ext cx="45720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9525">
            <a:solidFill>
              <a:srgbClr val="C83C4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874BA1-0888-494B-8D25-0AF673079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29150"/>
            <a:ext cx="417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49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Power Automate = back-office operations runner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2a4af5009c45f0"/>
          <a:srcRect xmlns:a="http://schemas.openxmlformats.org/drawingml/2006/main" l="16915" t="0" r="169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1352550"/>
            <a:ext cx="5353050" cy="4552950"/>
          </a:xfrm>
          <a:prstGeom xmlns:a="http://schemas.openxmlformats.org/drawingml/2006/main" prst="roundRect">
            <a:avLst>
              <a:gd name="adj" fmla="val 3347"/>
            </a:avLst>
          </a:prstGeom>
        </p:spPr>
      </p:pic>
    </p:spTree>
    <p:extLst>
      <p:ext uri="{BB962C8B-B14F-4D97-AF65-F5344CB8AC3E}">
        <p14:creationId xmlns:p14="http://schemas.microsoft.com/office/powerpoint/2010/main" val="17202798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17005B-D4AF-4DB9-83D3-AA59E32E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FOUNDATIONS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DE186D-F6B6-4E0F-B49F-113CDC126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What you will build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E373B0-C686-4244-9478-9AC8112D7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510C7F-30C0-4E26-87F2-742204D40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909D41-B982-402F-9B64-E8690445D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4E8F03-E509-4FE0-BDA4-86AEF0FF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ผู้เรียนจะเห็นผลของ core connector ทีละตัว และเลือกต่อยอด SharePoint เมื่อห้องพร้อม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808385-2039-40DA-8964-B9D4BC19E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5DAAD4-0F3E-4CED-A090-D0F13F6FB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94439E-A772-408C-AFC4-F5BD259E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Core connector checkpoints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83903F-6F46-450E-AFEC-E83A1C94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C8A3C1-22C9-4033-B819-750BAAE1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12CE76-4E05-41A8-B224-C2BD364EF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FD0FD6-D1FC-44F3-AA76-207574CA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ตรวจผลที่ปลายทาง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956B56-AEC8-4B3B-B0E2-A1E4FCF1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D172E4-CC5D-43CD-9583-3A1C348D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F36CA1-65C9-48C4-B814-8A0273D4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ย้ำว่าทุกขั้นมีผลที่ตรวจได้ ไม่ต้องจำทุกเมนูพร้อมกัน</a:t>
            </a:r>
          </a:p>
        </p:txBody>
      </p:sp>
    </p:spTree>
    <p:extLst>
      <p:ext uri="{BB962C8B-B14F-4D97-AF65-F5344CB8AC3E}">
        <p14:creationId xmlns:p14="http://schemas.microsoft.com/office/powerpoint/2010/main" val="135824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1C16E7-0F6A-4CBB-9281-1D766497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FOUNDATIONS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D3D09D-72A0-4F40-9ADD-04D85FCB2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One task-request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7C2563-9292-481C-A6FD-F00530A4F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9D34AA-073C-4C1C-8C25-A450BAF66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BA6167-04D4-4A78-AD87-7C31E84B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2F63D4-3656-43B2-9FA3-E4D20368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28750"/>
            <a:ext cx="10248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เรื่องเดียวตลอดวันช่วยให้เห็นว่าข้อมูลเดิมเดินทางอย่างไร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2CEB43-8020-4BBA-8EB9-9AFCA9297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CD6AE3-1854-4B1F-90B7-688E18756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ร้านสะดวกซื้อ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DBC3E4-94E3-4325-A08B-04E580D4F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ใบคำขอหนึ่งใบในร้าน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D8FEB2-345E-41F5-B696-329F1F88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2933700"/>
            <a:ext cx="5524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11365D-D350-4B18-86E7-D1F5D5C5F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0130D4-1FF6-45F5-9845-71E44473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OFFICIAL TERM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9C6658-50B7-4146-B284-247223FE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request record เดียว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F44009-E294-45CF-930F-158392F9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933700"/>
            <a:ext cx="5524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4AA5AB-EE47-460A-945A-41E84ED1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EEE043-61C3-447E-8981-24E3BEB0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CHECKPOINT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974599-598A-48B3-986A-AF968B1A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ติดตาม RequestId เดิมตั้งแต่ Form ถึง Teams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CC6D02-2F3B-4B7D-BB75-89BB604C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62500"/>
            <a:ext cx="1024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ใช้ภาพเปรียบเทียบเพื่อจำหลักการ แล้วกลับไปตรวจผลจริงใน Exercise</a:t>
            </a:r>
          </a:p>
        </p:txBody>
      </p:sp>
    </p:spTree>
    <p:extLst>
      <p:ext uri="{BB962C8B-B14F-4D97-AF65-F5344CB8AC3E}">
        <p14:creationId xmlns:p14="http://schemas.microsoft.com/office/powerpoint/2010/main" val="12619523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61F34F-AE25-44C2-B569-114D24BB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FOUNDATIONS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000C35-9504-4D1D-A1E5-2A1DB4B0A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Success at 16:00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16B17C-1F81-4277-920B-02FBCB20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ACC785-ECA6-4E75-8C70-957C894A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A4DD25-A5D2-4617-B0CB-AB1283E01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9DAC02-D37A-4265-BE5A-E01EC335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สร้าง ทดสอบ ตรวจผลปลายทาง และอ่าน Run history ได้ โดยไม่ต้องผ่าน SharePoint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37FF6A-22D0-4C4E-B491-D6584B9B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2390775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B6F20B-EA71-4A41-8292-725F3DB51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354468-DFC1-442F-872A-5DA1F54B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20097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Build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66A11D-5909-4A38-8A6F-79624AED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E806EA-C57A-492A-AE09-8522D65B3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86050"/>
            <a:ext cx="2390775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CB0035-BB77-44D8-B36A-2CA8AB16C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00B32B-3A52-4215-9681-5620A43A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190875"/>
            <a:ext cx="20097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Check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52264D-8D11-4771-8691-7236BE3C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6AE781-C6A7-4B89-83F4-7D366E00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2390775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E0BF5E-7518-42AE-85FA-74015E79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76C403-6122-4696-8671-EB9A5C16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20097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Decide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0267CC-CD88-4EBD-8429-492C6E74A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5CB52B-0A4E-42F8-A348-20262971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86050"/>
            <a:ext cx="2390775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8EE6A0-E10D-408B-99D2-A13A546A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333234-68B0-43E5-8C2B-0F68C55E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90875"/>
            <a:ext cx="20097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Recover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72E004-737E-47B2-9A2E-1D1DA4CEB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7FF24D-CE33-4DF4-ACB0-A6F6E130D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6C6A2F-B2EE-4909-A938-7333D758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ให้ผู้เรียนเลือกหนึ่งทักษะที่อยากนำไปใช้หลังคลาส</a:t>
            </a:r>
          </a:p>
        </p:txBody>
      </p:sp>
    </p:spTree>
    <p:extLst>
      <p:ext uri="{BB962C8B-B14F-4D97-AF65-F5344CB8AC3E}">
        <p14:creationId xmlns:p14="http://schemas.microsoft.com/office/powerpoint/2010/main" val="7783100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92DBF6-CC25-483B-A924-24184E771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FOUNDATIONS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0539AA-0EB4-474C-9771-8907AE49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What makes a task automatable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75AAAE-41D5-4513-A5B8-8B2353E84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8299B4-37DC-4FBF-9C43-A89893D80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145278-5378-4B8D-9D52-43EF0006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BC03E0-27E0-458B-B882-7DF2AAB3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งานที่เหมาะมีจุดเริ่ม ข้อมูล กติกา และผลลัพธ์ชัด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8674FC-C4C4-484C-ADC8-E329771FE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2BBB64-9FA7-4CBB-9B75-EFB0ED42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83CC4B-E41E-4311-AF55-78F6C797C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Repeatable recipe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BF17E4-8AD7-425D-97DF-A8D0E47CE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512727-BA31-42AD-B156-96DA737C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8031AF-7A3D-41FA-9EFB-98ED037E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798980-95F8-44DE-BB6B-81678C496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judgment-heavy work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1C265-0BDB-405E-892E-D0C94232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1468D2-D52E-458A-B7CE-5420CE898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4889E7-0AE9-4558-AAA6-26113B9A8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เปรียบ flow กับสูตรอาหาร คนยังเป็นผู้เลือกเมนูและตรวจรส</a:t>
            </a:r>
          </a:p>
        </p:txBody>
      </p:sp>
    </p:spTree>
    <p:extLst>
      <p:ext uri="{BB962C8B-B14F-4D97-AF65-F5344CB8AC3E}">
        <p14:creationId xmlns:p14="http://schemas.microsoft.com/office/powerpoint/2010/main" val="733319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9AD61F-DCA9-4B9D-9995-564631BA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FOUNDATIONS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38890A-2BC5-4548-8A39-B23D6AD9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Trigger, Action and Connector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0E9CE0-6EF5-4CE6-98CD-55CD62676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BCDF62-4C4D-485F-9299-52F8C5A6F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27F65E-699F-4304-B502-005ACFC7D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A11D01-D6B7-4222-A85B-7AF1DAD4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04950"/>
            <a:ext cx="51911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Trigger เริ่มงาน, Action ทำงาน, Connector เชื่อมบริการ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497F18-660A-4256-AA8D-30F055C1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38450"/>
            <a:ext cx="5191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ใบคำขอเข้าถาด → Trigger; ทางที่ผู้ช่วยเข้าถึงจุดงาน → Connector; การส่งอีเมลหรือเพิ่มแถว → 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5DCB09-9804-4D5E-B777-EE5C110A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57700"/>
            <a:ext cx="5191125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9525">
            <a:solidFill>
              <a:srgbClr val="C83C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F8262F-F907-4A0C-AB9F-96C07775A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19625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36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C83C42"/>
                </a:solidFill>
                <a:latin typeface="Tahoma"/>
                <a:ea typeface="Tahoma"/>
                <a:cs typeface="Tahoma"/>
              </a:rPr>
              <a:t>Trigger คือเหตุการณ์ที่เรียกผู้ช่วยหลังร้าน, Connector คือทางเข้าใช้บริการ, Action คืองานหนึ่งอย่างที่บริการนั้นทำ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9f4b5405604331"/>
          <a:srcRect xmlns:a="http://schemas.openxmlformats.org/drawingml/2006/main" l="16727" t="0" r="1672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850" y="1381125"/>
            <a:ext cx="5124450" cy="4333875"/>
          </a:xfrm>
          <a:prstGeom xmlns:a="http://schemas.openxmlformats.org/drawingml/2006/main" prst="roundRect">
            <a:avLst>
              <a:gd name="adj" fmla="val 3516"/>
            </a:avLst>
          </a:prstGeom>
        </p:spPr>
      </p:pic>
    </p:spTree>
    <p:extLst>
      <p:ext uri="{BB962C8B-B14F-4D97-AF65-F5344CB8AC3E}">
        <p14:creationId xmlns:p14="http://schemas.microsoft.com/office/powerpoint/2010/main" val="10499215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13F139-B3E0-4C6E-A53E-DEDCCA8A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FOUNDATIONS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79E069-71A4-4460-807C-D21B862D7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Three cloud flow types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92CD68-E1B7-4828-8E0A-21CFEBAC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C7B0A0-B185-4692-8839-D99D1FFC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02FE0A-9EFB-45BF-B5E0-1FDA5FC0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E7344C-512C-4142-A452-ED2294693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Instant เริ่มโดยคน, Automated เริ่มจากเหตุการณ์, Scheduled เริ่มตามเวลา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D4BB6E-5579-4FE8-8600-A150DEBA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3263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B9260E-0548-4C41-9612-7AE011E07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843F90-8320-4F21-8D85-F248FC02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2882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Button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AEB0D7-53F6-4BC3-B47A-755E5673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160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3C0150-CFF6-4939-ABC7-B5D42530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1625" y="2686050"/>
            <a:ext cx="3263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09F324-8196-4FA4-9EBB-F8F66FFC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21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1E94E1-1611-4D8F-B96D-B5D20E326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2125" y="3190875"/>
            <a:ext cx="2882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incoming form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FA9D15-C6FF-472B-9C69-CFB5BE7A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410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43272E-2886-4481-876E-5A4C11BB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4125" y="2686050"/>
            <a:ext cx="3263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6734E9-F96B-427F-A685-A7B5B8C8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50E94F-CAA5-4CB2-8629-AA66D3DD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3190875"/>
            <a:ext cx="2882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clock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5723F9-A3B4-4F33-9037-375B2C4B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2B9F2B-CA3D-49D3-A47F-EC69E0CE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E70F81-CB9D-4815-B812-8C947FF1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วันนี้ build Instant และ Automated; Scheduled อยู่ใน take-home reference</a:t>
            </a:r>
          </a:p>
        </p:txBody>
      </p:sp>
    </p:spTree>
    <p:extLst>
      <p:ext uri="{BB962C8B-B14F-4D97-AF65-F5344CB8AC3E}">
        <p14:creationId xmlns:p14="http://schemas.microsoft.com/office/powerpoint/2010/main" val="6048732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3EFBD9-1A9A-4410-9757-C8E72EA37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FOUNDATIONS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8F0098-C88A-4534-85B9-C89A06E7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Connector map for today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EA2165-6F51-4A27-97FF-FDD08123A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0AD3B3-6BEB-4AFC-8597-D988A450E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1C9B8C-87DB-44F2-8957-33E4CB16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4B3811-1006-424A-85C9-3783AABE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28750"/>
            <a:ext cx="10248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Outlook, Forms, Excel, Approvals และ Teams คือ core; SharePoint เป็น extension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65EC03-D961-43F7-A036-C0075294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54282C-1629-483D-9029-6ACE264C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ร้านสะดวกซื้อ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FA3269-FE50-4AA6-9BDE-9E0B22C1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จุดบริการหลักในหลังร้าน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D85323-84F1-4AC1-9F88-57A717FDA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2933700"/>
            <a:ext cx="5524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5B8F3F-0650-4F73-AB8A-D0200608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7A31B5-D47C-4FFD-B2D8-935BD931A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OFFICIAL TERM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F85471-087E-4CC4-ABD3-816E0778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core + optional connector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B21125-C59C-48D7-A2F4-7A248CAE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933700"/>
            <a:ext cx="5524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BBF49-1905-4A88-BB3D-D972275E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D0DB79-2A2C-461C-9FA5-A79BA22EE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CHECKPOINT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580A41-861D-4583-8002-2D7E3C110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แต่ละ Exercise มี checkpoint ที่ปลายทางจริง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5CB2A3-DBBB-4899-9A10-85B292D55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62500"/>
            <a:ext cx="1024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ใช้ภาพเปรียบเทียบเพื่อจำหลักการ แล้วกลับไปตรวจผลจริงใน Exercise</a:t>
            </a:r>
          </a:p>
        </p:txBody>
      </p:sp>
    </p:spTree>
    <p:extLst>
      <p:ext uri="{BB962C8B-B14F-4D97-AF65-F5344CB8AC3E}">
        <p14:creationId xmlns:p14="http://schemas.microsoft.com/office/powerpoint/2010/main" val="20416257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59AD51-ACE0-46FC-AFA8-AE97478C8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FOUNDATIONS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6F7AD2-5032-4719-AEFC-0C01110B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Permission and policy still matter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7A71FC-827A-4E8B-B07C-DD8AA4A63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BD0ADA-3B0D-47D3-A6D5-350F7018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E8E351-E8CE-414C-B17F-EE70A00A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67F688-600F-46C1-A743-50CB6C496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Standard connector ยังต้องมีบัญชี connection, permission และ DLP policy ที่อนุญาต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02282F-4583-4ABB-A98F-A9F31BB89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3263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BAE46F-E7BB-4F6F-B841-AFAD8A0A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08974A-4AC7-4128-9304-CBD40D082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2882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Three checkpoints: 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2A4362-61F8-497D-A7EF-DD6B6C8B6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160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543F51-B1F7-4907-829B-B30FD7A60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1625" y="2686050"/>
            <a:ext cx="3263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04AF14-BF3E-4C7E-B4CB-87A8E8A3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21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C07A9E-1A2A-4ACA-BD04-E5E7D13D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2125" y="3190875"/>
            <a:ext cx="2882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connection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E9DBB7-5D47-42BA-A075-8D768059E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410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73AB1A-36D8-4442-A62E-CC06B495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4125" y="2686050"/>
            <a:ext cx="3263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8C7CC9-851F-4C7C-B165-854E9A9A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E780E9-5FF2-406C-9431-F3A5ECDF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3190875"/>
            <a:ext cx="2882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5A7F55-CEB5-4404-92B4-6FB89FBE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8156FB-BA9E-44B9-89C1-C77953D7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EBE6A2-19ED-40C4-B73B-2CD6837D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เปรียบกับบัตรโดยสารที่ยังต้องขึ้นรถสายถูกและผ่านประตูที่เปิด</a:t>
            </a:r>
          </a:p>
        </p:txBody>
      </p:sp>
    </p:spTree>
    <p:extLst>
      <p:ext uri="{BB962C8B-B14F-4D97-AF65-F5344CB8AC3E}">
        <p14:creationId xmlns:p14="http://schemas.microsoft.com/office/powerpoint/2010/main" val="209676320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4A6B45-4AF4-48DE-B829-D9954ACB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FOUNDATIONS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E1C85A-5229-4E63-A337-252E160B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Safe data and human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78DE9B-8329-4A69-920D-D74A663B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3C1387-EE80-4769-A2BE-5BCBF434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FFEFB-AE7E-4A95-9D54-A82A031A3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F6B69-814A-47DC-8F22-13F14447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ใช้ข้อมูลสมมติ ตรวจผลจริง และไม่ส่งข้อมูลลับออกนอกระบบที่กำหนด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A3C1FD-F398-4461-8E14-C8A54DCD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9C4D0F-3E9C-4C6A-A723-FD178756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33429E-CEFA-4342-8375-B43874BE5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Synthetic request card and human verification tick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D97A06-0E76-48E7-8759-D0C20C96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89A3C3-11A9-4938-AB1A-36EB6AB7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6900CC-7FB8-41B7-AED9-743EC9A1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85DFD2-6CD5-463B-8C56-9B7B8323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ตรวจผลที่ปลายทาง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634215-B8AA-4E14-8B42-3479B6EFE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A93FEF-8381-41D9-9990-FAD7F53EF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8F6E7E-E7B5-4B63-AEA8-6D59A127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Succeeded ไม่แทนการตรวจ Inbox, Excel หรือ Teams; SharePoint ต้องตรวจไฟล์เพิ่ม</a:t>
            </a:r>
          </a:p>
        </p:txBody>
      </p:sp>
    </p:spTree>
    <p:extLst>
      <p:ext uri="{BB962C8B-B14F-4D97-AF65-F5344CB8AC3E}">
        <p14:creationId xmlns:p14="http://schemas.microsoft.com/office/powerpoint/2010/main" val="80416571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5280FA-90DB-43B6-8D9A-758CB402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OUTLOOK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41575A-8879-4099-8641-D93AEAA1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The smallest useful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15E95F-7CA9-4877-8B5D-8EABB64D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DD942B-8BE7-40AB-B4D1-FF4B92A8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EFED8F-EB43-42D8-8F40-8502B2C6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812FB6-3408-48D3-9764-827604AA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Manual trigger รับข้อมูลแล้ว Send an email (V2) ส่งผลทันที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BA6113-9D3A-4FE9-87BD-C479E855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3B7366-A7D8-4CA5-AC6C-CDBA510C9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4BC898-EA2D-4E83-B05C-08C485B46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Two-node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4D269F-0E21-4B8E-A21C-3621F983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041E35-42C0-4DC6-B85B-8CBC01B2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9377A5-52E2-4151-9324-B35301AF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352DF3-638C-4899-85BF-48FFA098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ตรวจผลที่ปลายทาง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8CA1F5-13DD-42D0-ACEB-81E6EB01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3F22AB-DA4C-4747-A0A2-362B33FA7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5B1B6C-6136-4B13-A795-009D8B4F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เริ่มเล็กเหมือนทดลองกดกริ่งก่อนต่อระบบทั้งบ้าน</a:t>
            </a:r>
          </a:p>
        </p:txBody>
      </p:sp>
    </p:spTree>
    <p:extLst>
      <p:ext uri="{BB962C8B-B14F-4D97-AF65-F5344CB8AC3E}">
        <p14:creationId xmlns:p14="http://schemas.microsoft.com/office/powerpoint/2010/main" val="150808168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8F1CC6-98CD-4040-A08F-C35400D0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OUTLOOK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C9A994-0652-41F4-92D1-DA3DB30DB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Trigger inputs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A6C9EB-112E-4738-83E5-EADABABE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3A5BF5-A9C2-4022-86B5-8E961B4D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AF1A3B-7C6B-4415-A8D2-10FC4C89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2B06C8-49A3-429D-9F82-BA8AD6E3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TaskTitle และ RecipientEmail เป็นข้อมูลที่ flow ต้องใช้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43C728-125B-4EF3-BC23-94EF9505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94BCC-6B46-451C-81F4-1527A1A2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706F7E-CFE2-4D4E-9F04-B83FED6CE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Two input fields flowing to email fields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7D5F57-D73A-4567-8DF6-3B4C75FD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4400AE-A1B9-44D6-8DC7-E3C2CABB4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CD9406-E6A8-44F9-80EE-E498E0A79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5442CE-7A87-4136-871A-05925692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ตรวจผลที่ปลายทาง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FD59C2-A42F-4987-A541-E631E2AA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6AC17F-36C4-4242-AD74-D33DBE47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70E5A8-42EB-46D0-BA5F-E52EA7403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ให้ผู้เรียนตรวจชนิดและชื่อ input ก่อนเพิ่ม action</a:t>
            </a:r>
          </a:p>
        </p:txBody>
      </p:sp>
    </p:spTree>
    <p:extLst>
      <p:ext uri="{BB962C8B-B14F-4D97-AF65-F5344CB8AC3E}">
        <p14:creationId xmlns:p14="http://schemas.microsoft.com/office/powerpoint/2010/main" val="5813905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ABF894-3D06-4B7C-AFDD-4C2EEB55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OUTLOOK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85FD56-F764-4320-BFB8-B2CF57A4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Map Dynamic content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1331CA-8A55-41DA-B6D3-17722FB7C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F4B0D6-7EE4-48AA-9E14-46795ABA4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685417-75AF-4DED-99FD-FC8390114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E9C6FD-8DA4-4E70-8D9A-28937D77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Output ของ trigger กลายเป็น input ของ Outlook 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490508-E999-4C7F-89F5-23730B24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68741E-C63B-4ECB-AE2C-D30ED88BD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A525C0-56C9-4161-8A60-D30843489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Tagged values moving into To and Subject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A9CF58-1BB6-4596-9EE6-3D19B9B2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F5E3FC-E9CF-446A-AF4E-0ABD1BDB2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C81FE9-7C08-413F-968E-A2FA1D41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052A0B-635F-46C5-B750-90ABF9436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ตรวจผลที่ปลายทาง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5044B2-EEF8-465F-A5C1-C08EEAD6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9C16F8-1787-40DE-A547-7BD1E6E9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FDE65F-DCE7-4A15-B2C7-BA7649DC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เปรียบ Dynamic content กับช่องว่างในจดหมายเวียน</a:t>
            </a:r>
          </a:p>
        </p:txBody>
      </p:sp>
    </p:spTree>
    <p:extLst>
      <p:ext uri="{BB962C8B-B14F-4D97-AF65-F5344CB8AC3E}">
        <p14:creationId xmlns:p14="http://schemas.microsoft.com/office/powerpoint/2010/main" val="18562710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2FEA85-5174-4C76-9D40-32610FEEC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OUTLOOK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82F2BD-05A9-484A-82B2-F1B1F998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Inbox is the checkpoint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9FDDBA-1250-4566-B5FB-3B40FC1B6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684F50-E4E5-4A69-A5BF-F2F26529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33DC16-D640-4F22-8254-9462E668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9D6E4B-213F-481E-9F27-E96EEB42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Run ต้อง Succeeded และอีเมลต้องมาถึงพร้อมค่าที่ถูกต้อง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C090D3-9599-4B08-89C4-73F94F882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F1EE58-D65B-4DC2-A12C-26A6CF01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2A9B1C-648A-45E3-871A-EAA06B2B0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Run history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6270DF-A5EC-401B-9517-0F5F2DE80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B03031-6C99-4D4A-9686-4A01061D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0E10B2-8C48-4784-935A-939BB848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F55682-706A-4682-99C1-288FB52FB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matching Inbox message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3730DC-B270-42CC-B045-4CC9743A0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0CFF3E-B947-40E6-8A85-4E4BEDE77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D7A2E0-177A-460C-B2EA-F875E392B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ให้ผู้เรียนเทียบค่าที่กรอกกับอีเมล ไม่หยุดที่เครื่องหมายสีเขียว</a:t>
            </a:r>
          </a:p>
        </p:txBody>
      </p:sp>
    </p:spTree>
    <p:extLst>
      <p:ext uri="{BB962C8B-B14F-4D97-AF65-F5344CB8AC3E}">
        <p14:creationId xmlns:p14="http://schemas.microsoft.com/office/powerpoint/2010/main" val="181867738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C0837F-F29D-411C-8FBA-8D882A9C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FORMS + EXCEL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B4442E-6947-4D97-95B1-3241AD30D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A Form starts the request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542D09-DC30-4B24-ADA9-D27ABC70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EEB384-4EB5-4018-B9C2-FFBBC9AB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CB8836-6433-4C06-91F7-1A4D4516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D341A2-82DC-4C4F-B82E-5CFFE907D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Form ทำให้ข้อมูลเริ่มต้นครบและเป็นรูปแบบเดียวกัน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2EC7D3-E5FC-4021-AFFC-8BFA0CC7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01124A-0FB7-4482-B051-879D661F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F12774-9449-4D73-B5C8-758C4A54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Six short form fields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5DFD43-C7F0-4FBA-B481-F335C93A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58C69A-A308-4326-9D2D-03AD6063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E4397D-DC1A-455D-AE87-B8D3B5AC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2304CC-0E4D-4129-AFA6-67BCC9A2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ตรวจผลที่ปลายทาง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E8AA1E-D302-461F-879E-7FFDBDF0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242675-C6C6-448A-A2F0-1AFB2DEA5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9E7700-358F-4DA3-8D17-405FDCE6E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ชี้ว่าฟอร์มเหมือนใบรับเรื่อง ไม่ใช่ฐานข้อมูล</a:t>
            </a:r>
          </a:p>
        </p:txBody>
      </p:sp>
    </p:spTree>
    <p:extLst>
      <p:ext uri="{BB962C8B-B14F-4D97-AF65-F5344CB8AC3E}">
        <p14:creationId xmlns:p14="http://schemas.microsoft.com/office/powerpoint/2010/main" val="39871382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5FFBF5-AE78-4BB7-977E-DF317D0AC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FORMS + EXCEL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7D81AF-D3F9-4708-8CAB-204B7BAD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One response, one row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33BD7-D473-484B-82A0-BE55CAA8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114BED-9337-4C81-97F8-B8E7706D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6F97DE-E664-4518-94DF-FC4290749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2A9B73-E5EB-450F-A1AE-01631E049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When a new response is submitted ตามด้วย Get response details แล้วเพิ่มหนึ่งแถว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982D9D-C9C1-4C6B-A677-4BE8072A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3263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A689D5-3288-4C59-9F1C-2998B230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5ECB93-71FE-48EC-848B-BC4DE7A1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2882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Form response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BD1C6F-15AF-451B-A023-603B2BF8C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160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52A7B9-67C5-4EC7-BF24-CB0BB703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1625" y="2686050"/>
            <a:ext cx="3263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8BBAF2-9CCB-420B-B61F-FA62409D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21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BF3A43-43C7-47EF-AB40-0FB85815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2125" y="3190875"/>
            <a:ext cx="2882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details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54B734-975B-43A7-A146-81CE44FD5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410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9C92B-BB0A-4818-AC49-D9AA85D35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4125" y="2686050"/>
            <a:ext cx="3263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035F1E-14A2-4C22-94D6-EC9C69CA3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297614-7BD2-4F60-BBEE-8A4E97ED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3190875"/>
            <a:ext cx="2882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Excel row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3E2663-F775-49B6-8370-6C95BD49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11F75B-AE5B-4D12-AEE0-E6B3D6BE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C24C1F-6500-47FB-A6C4-3920F51C1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หยุดทดสอบเมื่อ response แรกเพิ่ม row ได้ ก่อนต่อขั้นอื่น</a:t>
            </a:r>
          </a:p>
        </p:txBody>
      </p:sp>
    </p:spTree>
    <p:extLst>
      <p:ext uri="{BB962C8B-B14F-4D97-AF65-F5344CB8AC3E}">
        <p14:creationId xmlns:p14="http://schemas.microsoft.com/office/powerpoint/2010/main" val="49337697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A0F083-7068-4F81-B353-5E423B3A9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FORMS + EXCEL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9C0B5C-43D5-4C30-B57A-F70B9930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Prepared personal workbook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20182E-2B1A-41E6-B703-CBAE3B62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8BF675-D862-425C-8A68-A80A06C1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9260EF-A0C6-4092-88E3-A0DF71FF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25A4E5-6B7A-4776-9F72-BD37DBADD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28750"/>
            <a:ext cx="10248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แต่ละคนใช้ task-request-tracker.xlsx ของตนใน OneDrive และ table ชื่อ RequestsTable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809D49-ED1A-4E86-9AAC-F515DD3A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21C5E6-95FC-4BE2-8449-13A240C1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ร้านสะดวกซื้อ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D0B228-A60E-4683-8502-9E74198B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สมุดรับเรื่องหลังร้าน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AFF3CF-0D77-4174-A39D-6B11A555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2933700"/>
            <a:ext cx="5524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87DD5F-66B5-4A3B-A2B9-1B980F5D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184E32-937F-4056-ABE0-A5737963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OFFICIAL TERM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747E5A-9945-473D-954A-A5F22DCD9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RequestsTable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9F78BA-A08C-435B-9D06-199183E04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933700"/>
            <a:ext cx="5524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838D39-3893-480B-9061-7BF25489D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1B2E7-2A68-41A7-9FED-8BE2A9A18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CHECKPOINT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F84C06-D032-4C59-99DB-25A452BC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หนึ่ง Form response ต้องเพิ่มหนึ่งแถวและเก็บ RequestId ไว้ตามงาน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29ACC1-6C7A-449D-9150-ED402A12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62500"/>
            <a:ext cx="1024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ใช้ภาพเปรียบเทียบเพื่อจำหลักการ แล้วกลับไปตรวจผลจริงใน Exercise</a:t>
            </a:r>
          </a:p>
        </p:txBody>
      </p:sp>
    </p:spTree>
    <p:extLst>
      <p:ext uri="{BB962C8B-B14F-4D97-AF65-F5344CB8AC3E}">
        <p14:creationId xmlns:p14="http://schemas.microsoft.com/office/powerpoint/2010/main" val="82023759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D3AED7-03A7-4B3F-8BF4-D1723E08D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FORMS + EXCEL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AE87F0-A5D8-4684-81B0-BF0E51144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Map the eight columns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5416C8-E2C3-463D-B086-F4764DDB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A4F733-A248-4CB1-A3E5-7BE95190C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A5CC5A-BE0C-46AA-8302-F76A0D36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731814-B24F-41E7-A324-BCE07E76F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RequestId เป็น key; fields อื่นเก็บเรื่อง ผู้ขอ หมวด วันต้องการ สถานะ และผลตัดสินใจ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2E806C-0D15-40F5-9F35-DE6FD6D91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6E2CAA-9705-4B53-BFE9-67F045889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B9616F-165A-4B43-8729-C60FC1FE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Form-to-table mapping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E5585F-4470-44A2-8505-5D9FA1C4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0BACF9-B012-4921-BEB7-46C13596E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FF027-0237-40B3-86E1-2B9F8F06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FA282D-DFA7-4E33-951B-618B2FF3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ตรวจผลที่ปลายทาง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602415-F9FF-4845-96EB-B9639383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5BE643-6084-4151-87DF-459E743E5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E4113E-C708-453D-9AF5-446D3CC2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Status เริ่มเป็น Pending และ Decision ยังว่าง</a:t>
            </a:r>
          </a:p>
        </p:txBody>
      </p:sp>
    </p:spTree>
    <p:extLst>
      <p:ext uri="{BB962C8B-B14F-4D97-AF65-F5344CB8AC3E}">
        <p14:creationId xmlns:p14="http://schemas.microsoft.com/office/powerpoint/2010/main" val="24227770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DEF825-3C96-4385-A582-AFC6B0CA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FORMS + EXCEL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54E157-5945-47C3-8192-FF64CFBA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RequestId is the tracking number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D54BD2-C3A6-47D3-A233-1955875D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E5E8B1-88FF-4A1D-B083-C53AFEEF7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D6EDE-F1D2-42C4-BB02-51EF81A5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41EDB1-ACAF-4893-A597-D83BFC774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Forms Response Id ใช้ค้นหาแถวเดิมในขั้นอนุมัติ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ADA625-E2A6-46F4-A7A2-3613AFFB0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270EEF-4039-4DA3-ABD9-CFBD7CB9F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00A791-CD3D-47A1-9859-94325879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Ticket number stamped on one request row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20C904-4B46-4F45-A057-D7715C54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6EA892-A9FE-49C2-9217-E870FA67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3F6021-D585-40E7-B78A-BC196492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5697A9-FDF8-450D-9DDE-63D45A86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ตรวจผลที่ปลายทาง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DEABBA-2256-4EA6-A0D4-D18BA404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010394-807E-4E1E-87DA-2B0B0A1F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291036-DBD2-48A5-A692-7E2B5766B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เปรียบกับเลขรับเรื่องที่ช่วยไม่ให้อัปเดตผิดรายการ</a:t>
            </a:r>
          </a:p>
        </p:txBody>
      </p:sp>
    </p:spTree>
    <p:extLst>
      <p:ext uri="{BB962C8B-B14F-4D97-AF65-F5344CB8AC3E}">
        <p14:creationId xmlns:p14="http://schemas.microsoft.com/office/powerpoint/2010/main" val="6470856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6DEE39-B64B-4772-8A16-49D73674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FORMS + EXCEL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31345E-0C12-4840-B9F0-0DFDF6A6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Check the row, not just the run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BF119E-68CA-422B-8A17-B9868C48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237756-E309-4B2B-9C11-281F26818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CD3659-262B-4230-B7DD-7C5E0D64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57C09D-3CD6-49B8-86EB-3B67BC66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ตรวจว่ามีหนึ่ง row ใหม่และค่าตรงกับ Form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98559C-89C5-4F93-88F9-2CAC7A24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0083AA-8A6B-4293-8413-85A173CA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D72F5D-8C50-49B7-B453-CCE52C60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Submitted request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0224ED-674A-4FA3-ADFD-21923FA1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72C8C9-93F3-47D2-8139-5508F390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C97A42-CB16-4703-97DB-8D3170D8F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86289C-A83D-415E-BE0C-A56D4AA1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the matching row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B3D762-F479-427F-A3A7-BABCD3DC6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93E3B5-23F5-44B1-84A7-46A5ED74A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D2C9A7-3053-44DD-B562-A8B05D4D5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รอการอัปเดตแล้ว refresh; อย่าเปิดแก้ workbook ระหว่าง connector เขียน</a:t>
            </a:r>
          </a:p>
        </p:txBody>
      </p:sp>
    </p:spTree>
    <p:extLst>
      <p:ext uri="{BB962C8B-B14F-4D97-AF65-F5344CB8AC3E}">
        <p14:creationId xmlns:p14="http://schemas.microsoft.com/office/powerpoint/2010/main" val="53834574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07D2AC-757A-4B4E-94A9-113FE1334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APPROVALS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328D28-1A4D-44B2-9E4D-DFF100B4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Start and wait for an approval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DE6CF4-DD5B-4816-8047-A8B87493E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CEE8B6-EB2D-4CF6-9DA2-55B9B4AAE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87372A-BF6E-4B7A-8F22-0A661EDC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28E9B9-734E-4679-9AD5-66777AA97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04950"/>
            <a:ext cx="51911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Start and wait for an approval ส่งคำขอและรอ Outcome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445262-E7C7-4A93-AEB0-CE038AEB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38450"/>
            <a:ext cx="5191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ผู้ช่วยยื่นใบให้หัวหน้าและรอคำตัดสิน → Start and wait for an approval → ตรวจว่า Approve/Reject กลับมาที่ flow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03800B-51E1-47F2-A81A-9711386DE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57700"/>
            <a:ext cx="5191125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9525">
            <a:solidFill>
              <a:srgbClr val="C83C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75A02E-D3EC-4313-B77C-DFC2945D0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19625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ใช้ผู้อนุมัติหนึ่งคนเพื่อให้ผู้เริ่มต้นเห็นผลเร็ว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6bab5b6aa240d9"/>
          <a:srcRect xmlns:a="http://schemas.openxmlformats.org/drawingml/2006/main" l="16727" t="0" r="1672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850" y="1381125"/>
            <a:ext cx="5124450" cy="4333875"/>
          </a:xfrm>
          <a:prstGeom xmlns:a="http://schemas.openxmlformats.org/drawingml/2006/main" prst="roundRect">
            <a:avLst>
              <a:gd name="adj" fmla="val 3516"/>
            </a:avLst>
          </a:prstGeom>
        </p:spPr>
      </p:pic>
    </p:spTree>
    <p:extLst>
      <p:ext uri="{BB962C8B-B14F-4D97-AF65-F5344CB8AC3E}">
        <p14:creationId xmlns:p14="http://schemas.microsoft.com/office/powerpoint/2010/main" val="190098071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27201C-D2EF-4F5D-8922-38A2FFF65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APPROVALS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C114DE-E50C-4B74-9DBD-9FC2A559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Configure the approval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27C536-F0E3-461B-AE98-0B617A5E5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9A5444-03E2-4C84-8097-F443CF3D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0F1AE3-A28B-4A78-83F7-9B52AC28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018B09-4992-4DE4-9CE9-54C2D897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Title, Assigned to และ Details ต้องทำให้ผู้อนุมัติตัดสินใจได้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A763E9-A33D-4B2D-8E04-0C2A4673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32D0B1-01B4-480F-A4C2-26F8C898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E81A3C-75B6-4232-974F-C38B39DF7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Annotated approval fields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84D5F1-828B-4BF1-967A-0D946868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755829-74C1-4DAA-8DB0-0827EAAA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683FBD-E510-4DA9-BB7D-E506F70C3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A536FB-C3A8-4BA9-A7FF-DAA6AB16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ตรวจผลที่ปลายทาง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F9951B-DDA9-40F3-8FEE-AF5B35D33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61B0C7-15E3-4E25-9B6C-108F50725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660C41-B3CA-4C0E-8A84-0C716B171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ใช้ Response Id ใน Details เพื่อย้อนตรวจคำขอ</a:t>
            </a:r>
          </a:p>
        </p:txBody>
      </p:sp>
    </p:spTree>
    <p:extLst>
      <p:ext uri="{BB962C8B-B14F-4D97-AF65-F5344CB8AC3E}">
        <p14:creationId xmlns:p14="http://schemas.microsoft.com/office/powerpoint/2010/main" val="161370249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014F76-78A6-46F2-A758-3E940632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APPROVALS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D72F28-5DAF-4B2D-9B24-070B2153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Approval versus email options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D2BB52-F99A-443C-8E35-1BFAC6E9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F1D001-4C0C-42AC-BF74-662479844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9025D3-6E3A-4D9E-8326-4B27B8D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DD2016-1E75-457D-83B3-5E250B4A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Email options เป็นคำตอบแบบเบา; Approvals ให้ output และประวัติเฉพาะกระบวนการอนุมัติ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7385D8-C8AC-4BE6-A52C-14D1A7CB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9BAE9E-0B1E-4B01-BC6A-2970C2F2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11777B-D7CE-44D4-86CB-2AA1F6DF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Compact two-column comparison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E4616C-D999-4193-A447-6E3EB44E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78CAB0-D15E-4F10-9013-2132046B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EB0D0C-1090-4BB7-8E74-A6E72485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CE6010-187E-450B-878C-C716F54A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ตรวจผลที่ปลายทาง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A29299-A426-4869-B345-1DED3DB95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637EAA-E40B-471E-B717-F190CDD0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88442F-8B63-425D-B7C0-F685B243D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อธิบายสั้น ๆ แล้วกลับสู่ action ที่ผู้เรียนกำลังสร้าง</a:t>
            </a:r>
          </a:p>
        </p:txBody>
      </p:sp>
    </p:spTree>
    <p:extLst>
      <p:ext uri="{BB962C8B-B14F-4D97-AF65-F5344CB8AC3E}">
        <p14:creationId xmlns:p14="http://schemas.microsoft.com/office/powerpoint/2010/main" val="93244449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183AA1-4C43-4930-97B8-85418930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APPROVALS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30116E-56D0-42F5-9BBA-B8B9D9CF9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Outcome controls the Condition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55696F-8EBB-4202-80EF-5E3A412F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D476C6-69AF-42AF-8054-B290EAAB9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56D7C4-A7D3-4412-B12C-811EE356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56898B-B033-499C-A6E5-2B90C9B9B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28750"/>
            <a:ext cx="10248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Outcome is equal to Approve แยก If yes กับ If no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ED2843-C3DC-4CB6-A6B2-90946927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96153D-8EA6-4C76-B09A-C714B03D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ร้านสะดวกซื้อ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ECDA54-B414-4CA9-9F0F-F7790C633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ถาดสองสีหลังคำตัดสิน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39E0CE-619D-4FE1-8CB0-836AE5F69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2933700"/>
            <a:ext cx="5524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9D05BE-75E6-4A49-9B26-63AE3B7A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CEC47F-384D-48F4-9C36-0B5BCE24D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OFFICIAL TERM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2CDB3-9436-46F9-8A9F-5A221EB5F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Condition branches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5BF9C2-D8DC-416B-9DF4-D61D5FA9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933700"/>
            <a:ext cx="5524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8003A6-760A-422D-B70C-63DCC951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DB30C9-622C-4D17-B596-22E3B60DB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CHECKPOINT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5D852C-620E-48C5-8F51-1B2949A3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Approve และ Reject ต้องอัปเดตแถว RequestId เดียวกัน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7041A3-5080-46E6-9C4A-9EA36CF3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62500"/>
            <a:ext cx="1024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ใช้ภาพเปรียบเทียบเพื่อจำหลักการ แล้วกลับไปตรวจผลจริงใน Exercise</a:t>
            </a:r>
          </a:p>
        </p:txBody>
      </p:sp>
    </p:spTree>
    <p:extLst>
      <p:ext uri="{BB962C8B-B14F-4D97-AF65-F5344CB8AC3E}">
        <p14:creationId xmlns:p14="http://schemas.microsoft.com/office/powerpoint/2010/main" val="23218168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5348E-12EC-49BC-A2A3-C6EBD06E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APPROVALS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277295-040E-47C8-8AE8-4B3C39AF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Update the matching row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268969-28F3-43F7-87B8-5BD257F2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4C507B-9CC8-4023-B524-56AE7A594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A1AF54-68F3-422A-B9BE-2547820B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8E7C65-76A6-4A19-9919-6E7A3C52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Update a row ใช้ Key Column RequestId และ Forms Response Id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69C693-9E56-4AEB-BB41-EEF7E87B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C83327-CA44-4D4D-B159-EB6B75EB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DC1D02-9E76-431E-9D69-F4BE421A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Approve/Reject branches pointing back to one exact row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E7B229-BD0F-4902-A082-F9E66589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F28FA2-82C2-4855-88D3-B599B7501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A854AF-5024-468A-9158-A4DE86BC4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63CF1E-A03F-4422-B8FC-63EEFB13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ตรวจผลที่ปลายทาง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C7FB98-0BC9-4D42-8AA5-A42C35AC6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4FCAF0-4D25-4578-BE33-4924BA85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CB60AF-AC52-4ABE-BB47-1832BB56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ตรวจทั้ง Status และ Decision และทดสอบคนละ RequestId</a:t>
            </a:r>
          </a:p>
        </p:txBody>
      </p:sp>
    </p:spTree>
    <p:extLst>
      <p:ext uri="{BB962C8B-B14F-4D97-AF65-F5344CB8AC3E}">
        <p14:creationId xmlns:p14="http://schemas.microsoft.com/office/powerpoint/2010/main" val="66180741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DE3195-DB2D-4628-B696-0A8497289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INSTRUCTOR-SELECTED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E5B59B-FB63-4F7A-BC5E-34E92C55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Choose the 13:30 route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2B38FD-B187-4B31-92AC-BCCDA784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8F12BC-2A96-4C73-84B3-7FA1B025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ED8647-12B9-4950-9451-F7DEE5AD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927416-0337-477F-9E94-AD83F977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28750"/>
            <a:ext cx="10248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วิทยากรเลือก Approval reinforcement หรือ SharePoint extension เพียงหนึ่งเส้นทาง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4BA254-20A1-40DD-A314-16FE838D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3EE1D3-5E95-4382-A8DF-31944A9B7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OPTION 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2CFF03-F903-4D28-B246-8D002B797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Approval reinforcement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992F0A-607C-494D-BFF0-25E00EB63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2933700"/>
            <a:ext cx="5524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92FC26-1F7D-46D2-AD1B-38AFC4750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546DD4-C2CC-4C97-A983-ACAA40FD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CHOOSE ONE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1B3AA6-7D01-4944-A920-30EAB78A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33E9BA-8B51-4759-8BCB-C456492F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933700"/>
            <a:ext cx="5524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D90961-1ADA-44F7-A06D-51F26BCB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EE850C-C6CD-42A1-8E5F-0BBB484A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OPTION 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0AC6C4-2677-4C46-99DD-95A36DBF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SharePoint extension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D76F7D-7034-4F6B-90CA-DFB97505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62500"/>
            <a:ext cx="1024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ทั้งสองเส้นทางกลับมาเริ่ม Teams ที่ Slide 29</a:t>
            </a:r>
          </a:p>
        </p:txBody>
      </p:sp>
    </p:spTree>
    <p:extLst>
      <p:ext uri="{BB962C8B-B14F-4D97-AF65-F5344CB8AC3E}">
        <p14:creationId xmlns:p14="http://schemas.microsoft.com/office/powerpoint/2010/main" val="56326146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BA7CE6-D310-4A87-93F2-070B3965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INSTRUCTOR-SELECTED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CC2A42-D11D-4C9C-A522-A65500E7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SharePoint readiness routes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3ACC5D-716A-403B-9691-96E86423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FDCD9A-AA29-40CB-8036-9613A993E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EA3D04-B17A-441A-9144-69E0A566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EF02D9-C2A2-4993-A8A0-CFAADD336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Route A สร้าง private Team site; Route B ตรวจ site ที่ IT เตรียมให้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255AB0-2784-4D70-ABD0-9E085DC0F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E24891-0A12-4412-9B18-DF1040A9A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550965-D0CA-4A4B-A6A5-57E626F3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Route A · สร้างและตรวจ site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2B7991-BC60-434D-A23D-4F6D1970D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09A210-AE5E-4CE7-A1DE-C6C7BF99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DB2069-E73E-4668-ACC0-FC66C51B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5B18F8-99CE-4C99-992A-398A7A880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Route B · ตรวจ site จาก 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A58FB8-B09E-4F19-AA2B-38E3BA42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E0A959-48A0-46A9-ADD3-9C0A90B6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22E5F3-D6D8-49B1-9332-19D1EBA01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ส่ง direct link ของ route ที่เลือก; readiness ไม่ผ่านให้กลับ reinforcement</a:t>
            </a:r>
          </a:p>
        </p:txBody>
      </p:sp>
    </p:spTree>
    <p:extLst>
      <p:ext uri="{BB962C8B-B14F-4D97-AF65-F5344CB8AC3E}">
        <p14:creationId xmlns:p14="http://schemas.microsoft.com/office/powerpoint/2010/main" val="101645938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73686A-A53C-4941-8FF7-00B26038D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INSTRUCTOR-SELECTED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BC222C-376E-4AD3-BC64-300324E0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Rejoin at the checkpoint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F72A8E-765E-400C-86AB-AB9E6AB3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C6A14E-F921-4FEA-A540-451CCA5A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8D3DD1-52E7-4809-AF38-7906B8D9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4E8144-3216-4652-9942-84AE07C7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แต่ละเส้นทางใช้หลักฐานของตน แล้วกลับมาเริ่ม Teams เหมือนกัน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21759E-C3EF-4AE4-BB6B-86D56054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8DD6E6-342E-4649-B1C9-86BA29CFA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3E3E74-6701-4817-9644-DFE6EB39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Approval, Excel และ email ตรงกัน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F76F49-6F6B-4B56-A654-AFC746E5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EDB855-81C5-4E44-B816-913E529F7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DA1241-3E30-4B70-847B-1831EF74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016B78-78E3-463D-84DC-76261FD8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SharePoint: Approved มีไฟล์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AC5FD8-636F-4323-9780-AB8CCD004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7C7C61-0661-493D-9273-4441AFBF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8FD7FA-7DE9-4C6C-BEED-4F8344FF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SharePoint บันทึก Passed, Skipped by instructor หรือ Blocked</a:t>
            </a:r>
          </a:p>
        </p:txBody>
      </p:sp>
    </p:spTree>
    <p:extLst>
      <p:ext uri="{BB962C8B-B14F-4D97-AF65-F5344CB8AC3E}">
        <p14:creationId xmlns:p14="http://schemas.microsoft.com/office/powerpoint/2010/main" val="154518387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0E1A64-5A21-4484-BC9F-E7462E49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TEAMS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BE674C-2207-486A-913D-BAAF4737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Add a direct Teams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F6B83F-7229-4A93-9302-15BF7CD5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66770E-CDAF-4932-ADA6-9E08F9A8D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078E16-9FFB-4C70-BDA4-FA88220A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FA2A87-4DD1-40D2-8175-9A7698E90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28750"/>
            <a:ext cx="10248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Post message in a chat or channel ส่งผลไปยัง direct chat โดยไม่ต้องสร้าง Team/channel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AE4E20-8B3B-4247-9554-E3B673794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21DAF0-2700-4A1C-9942-3EDBF6927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ร้านสะดวกซื้อ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B62DAF-F8B4-4652-A95E-97E868FCB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ผู้ช่วยแจ้งผลกลับจุดรับเรื่อง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42438C-E9C8-4288-AA10-9BEF78DAE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2933700"/>
            <a:ext cx="5524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5CE64A-02BA-43A9-B2CB-11437154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860E56-9313-470E-8787-C2422CA4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OFFICIAL TERM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613B29-0703-4A86-9EAC-B6CDBD90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Teams direct chat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7DA8DB-6C04-4E5C-8D6D-C44493A0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933700"/>
            <a:ext cx="5524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276453-CBD5-4585-9326-17826C00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FACB20-9502-4B67-82AC-BC4FD7A4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CHECKPOINT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43F72-D6E2-4CF5-A8E5-B5089F57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ทั้ง Approved และ Rejected ต้องมีข้อความผลลัพธ์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72983D-1797-4BB5-AE76-E292AE2D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62500"/>
            <a:ext cx="1024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ใช้ภาพเปรียบเทียบเพื่อจำหลักการ แล้วกลับไปตรวจผลจริงใน Exercise</a:t>
            </a:r>
          </a:p>
        </p:txBody>
      </p:sp>
    </p:spTree>
    <p:extLst>
      <p:ext uri="{BB962C8B-B14F-4D97-AF65-F5344CB8AC3E}">
        <p14:creationId xmlns:p14="http://schemas.microsoft.com/office/powerpoint/2010/main" val="109297286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2326CC-F3F4-4CA9-839D-681CF64C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TEAMS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406F8E-A014-4BB5-9676-BE7E22450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Map recipient and message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C87119-FAA4-48B2-AA06-3DA05CE1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9158D4-9DD0-4DE4-8B2D-60DD1795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0E902E-7330-4033-AD74-54E7FB14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5CD905-8138-40B9-AF80-A2FFA3D2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Recipient มาจาก Requester email; ข้อความมี RequestId, Title, result และ next step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B0A2AD-64FE-4989-9D43-848AD7DA5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CEE395-D834-4707-AFD1-8469BA708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F0689B-2CEB-472C-92FC-8393465A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Dynamic content mapped to message template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0A08B9-BF62-40B0-8424-A96D3024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D7921A-D8C8-44BA-BFBD-556AAC99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968505-7DF8-46B2-8641-F105E35AF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2F5B3C-09AA-45E5-8D95-F019F775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ตรวจผลที่ปลายทาง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2989E3-A826-4E0D-B568-B97F2141C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385C81-2E1F-4E35-8C77-4C569F69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55E0-AD45-4BDB-B56F-57A63EF91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ใช้อีเมลฝึกของตนเองและข้อมูลสมมติ</a:t>
            </a:r>
          </a:p>
        </p:txBody>
      </p:sp>
    </p:spTree>
    <p:extLst>
      <p:ext uri="{BB962C8B-B14F-4D97-AF65-F5344CB8AC3E}">
        <p14:creationId xmlns:p14="http://schemas.microsoft.com/office/powerpoint/2010/main" val="6560134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F1694B-0B05-43AB-92B4-16B0AF87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TEAMS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E1DD60-666A-4D35-AD28-C95728827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Check both Teams messages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12D019-7635-4620-9265-7BB9D6846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DF7F29-BF94-4816-9499-DF506D32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FB96C2-3016-411C-A4A6-FF6929C4A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B7F881-C50D-443E-B00A-D615F2352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Approved และ Rejected ต้องส่งข้อความที่ต่างกันและตรงกับ RequestId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D7E3DF-EA1C-42F6-8C5A-65566481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73D0C9-5652-4673-84A3-FE1F1A099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CD875E-DD8F-414F-A3A5-CF7C3B2A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Two direct-chat messages side by side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DAFB51-1952-4D87-8CFC-EE9C0C0E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2A8B58-F702-4053-9310-E994CCB3E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F760FE-BBCA-4E82-830D-DD75FE53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451091-5692-4765-BD0D-D951405E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ตรวจผลที่ปลายทาง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F2CEAE-788A-47B8-956D-25BBE9A4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5E44AB-9A33-4276-A803-17658232B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4A0821-E8B7-4ACE-83CC-DA77578A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เปิดข้อความจริงและเทียบกับ Run history</a:t>
            </a:r>
          </a:p>
        </p:txBody>
      </p:sp>
    </p:spTree>
    <p:extLst>
      <p:ext uri="{BB962C8B-B14F-4D97-AF65-F5344CB8AC3E}">
        <p14:creationId xmlns:p14="http://schemas.microsoft.com/office/powerpoint/2010/main" val="182345097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C5521A-E13E-48B5-BCF8-19AB911FE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TEST + RECOVER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345AF3-6FEB-4C50-B0CA-980C945D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Integrated two-path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9B7DA0-DBBF-4CE9-8AD2-091CF6DF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F9E694-22EB-468A-985F-6597696E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A47240-E222-4E55-882C-424C225D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32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FB3366-F980-4523-8075-02B860A1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ทดสอบ Form สองรายการ: Approve หนึ่งรายการและ Reject หนึ่งรายการ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D849A-1289-4700-AA89-0128AB43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170A89-9A6C-4A59-8772-607F142F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C941B3-102F-4588-B4C7-E31BEFE6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Acceptance matrix for Excel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482C77-DDB9-432E-9B6D-2ED2EDF3B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4DFE92-1F80-4195-BC80-AC9F62F5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F0E1E7-AA3B-4A19-A2D7-67EB6F4F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1A3B42-E6A7-47EF-90EB-A0A993C2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Teams + optional SharePoint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52BDA8-B5F0-43B6-9B91-2D213CD58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1B7435-1106-4D67-AA1F-1011D19A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694730-927B-4FDA-8259-E7F3497C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Core: Excel และ Teams ผ่านทั้งสองผล; SharePoint เป็นหลักฐานเสริม</a:t>
            </a:r>
          </a:p>
        </p:txBody>
      </p:sp>
    </p:spTree>
    <p:extLst>
      <p:ext uri="{BB962C8B-B14F-4D97-AF65-F5344CB8AC3E}">
        <p14:creationId xmlns:p14="http://schemas.microsoft.com/office/powerpoint/2010/main" val="139256818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D960D7-53B2-486E-BC86-FA8DE292F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TEST + RECOVER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A0E016-956D-4CAD-9B8C-A3D71FAC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Recover from a controlled failure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B1F24D-5C33-4BA2-B350-2C3AF4FCF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6798C8-27B5-4635-BD8D-4EC9E848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106EA8-CB45-4EE8-9301-8206C0D21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C95F59-6F2D-4B12-979D-94752DCD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04950"/>
            <a:ext cx="51911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Run history ชี้จุดล้มเหลว และ Run After กำหนดสิ่งที่เกิดเมื่อ action fail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165C04-1BC6-43B8-86E5-73C5E265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38450"/>
            <a:ext cx="5191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จุดงานหยุดบนกระดานหลังร้าน → Run history and Run After → อ่านจุดล้มเหลว ซ่อม แล้วพิสูจน์ด้วย successful run ใหม่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56ECC7-A4F1-4242-A9CC-E61DE176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57700"/>
            <a:ext cx="5191125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9525">
            <a:solidFill>
              <a:srgbClr val="C83C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67325F-3B69-4920-84B6-37B57554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19625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36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ทำ controlled failure หนึ่งครั้ง ซ่อม แล้วพิสูจน์ว่า run ใหม่สำเร็จ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ca3cd8ce71458f"/>
          <a:srcRect xmlns:a="http://schemas.openxmlformats.org/drawingml/2006/main" l="16727" t="0" r="1672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850" y="1381125"/>
            <a:ext cx="5124450" cy="4333875"/>
          </a:xfrm>
          <a:prstGeom xmlns:a="http://schemas.openxmlformats.org/drawingml/2006/main" prst="roundRect">
            <a:avLst>
              <a:gd name="adj" fmla="val 3516"/>
            </a:avLst>
          </a:prstGeom>
        </p:spPr>
      </p:pic>
    </p:spTree>
    <p:extLst>
      <p:ext uri="{BB962C8B-B14F-4D97-AF65-F5344CB8AC3E}">
        <p14:creationId xmlns:p14="http://schemas.microsoft.com/office/powerpoint/2010/main" val="76513130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C6FDC9-F1E5-4B73-9807-26F84B24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TEST + RECOVER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90DB1C-A3F7-43DB-BB7F-D7211FCC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Govern the whole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BA357A-07B0-4996-9E89-FF30DB90D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51D401-B19C-4926-AC28-45657EB3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A897D9-AA23-47C9-8C24-6899385D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F0231F-2EB0-4E16-8CA5-EBE0BEC37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ตรวจ owner, connection, least access, data boundary และ monitoring ก่อนนำไปใช้จริง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FDCC72-9049-479C-AE31-5E97A7F2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91DE93-A3BA-439D-A607-9A97ECB3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56272E-DD99-474F-9F50-CFBE4CBC5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Five guardrails around the completed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9BDFA6-0A78-4FA9-A90C-E68CE17E3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FAD05F-F3A6-4ABE-A69E-4FCC69EBC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86050"/>
            <a:ext cx="5010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9812A1-4EC3-4FCD-A433-C0C32038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4A9C70-2ED3-4393-A1C0-EA8C6ECB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90875"/>
            <a:ext cx="4629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ตรวจผลที่ปลายทาง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6C4B5E-62BE-4254-9194-5A1662F8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7CB84B-1312-4675-B162-B73102DA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B12253-90C4-48A1-868F-FD3A2B735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Governance ไม่ใช่บทท้ายแยกออกมา แต่เป็นกติกาที่ใช้ทุก connector</a:t>
            </a:r>
          </a:p>
        </p:txBody>
      </p:sp>
    </p:spTree>
    <p:extLst>
      <p:ext uri="{BB962C8B-B14F-4D97-AF65-F5344CB8AC3E}">
        <p14:creationId xmlns:p14="http://schemas.microsoft.com/office/powerpoint/2010/main" val="85460341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9024BB-BB56-41BB-9D60-D8D6C229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TEST + RECOVER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A2C2A9-FDF2-4565-9248-8FDBA98C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AI Builder overview and demonstration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778EED-8F7C-4999-A6EC-334ED9760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A155F9-24FC-4FA6-9591-4C26858C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DB8658-F4BC-4E77-B79B-4253B98D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A3C303-BB10-4D0F-B6A1-33A14F7E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1024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AI Builder เพิ่มการอ่านหรือจัดประเภทข้อมูลใน flow ได้ แต่วันนี้เป็น demo/discussion เท่านั้น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EF7423-ED6D-4F7D-802F-9DDED8603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3263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9EEF23-9A3B-48B0-AEC9-F6E6CC292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9AE9C8-F379-435D-AC5A-F3A249EE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2882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Incoming document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374515-8AAB-4CD1-8CE5-6A543E61A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160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8F3451-50EA-4D87-B1C3-160E04D9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1625" y="2686050"/>
            <a:ext cx="3263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DDD077-C13E-45C0-B9B8-5A5CA61E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21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62A777-912B-4445-BC93-82EEEF7D6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2125" y="3190875"/>
            <a:ext cx="2882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AI result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1C1597-ADF2-451B-883C-38D5733BA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4100" y="3200400"/>
            <a:ext cx="171450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6A118E-8ED6-4734-951E-55F8BEEA6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4125" y="2686050"/>
            <a:ext cx="3263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D1059C-FF4E-4EA2-AECA-5F41C050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28384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6351C7-58E0-43F3-8DF3-56B6F538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3190875"/>
            <a:ext cx="2882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familiar flow action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7E9990-7335-40C3-A644-6FF1FDA5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248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38B5BA-0F00-4BDE-96B0-A35A0959B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สังเกตและตรวจผล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4B56BA-B9EC-45FE-B0F7-53D432167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19700"/>
            <a:ext cx="788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036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สาธิต use case ขนาดเล็กหรือ saved result; ไม่ให้ผู้เรียนเตรียม model/license และไม่เพิ่ม hands-on</a:t>
            </a:r>
          </a:p>
        </p:txBody>
      </p:sp>
    </p:spTree>
    <p:extLst>
      <p:ext uri="{BB962C8B-B14F-4D97-AF65-F5344CB8AC3E}">
        <p14:creationId xmlns:p14="http://schemas.microsoft.com/office/powerpoint/2010/main" val="202266772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E05695-0CE7-48ED-A5E8-31FE423D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DAY 1  ·  POWER AUTOMATE  /  TEST + RECOVER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1FDB12-9B93-40D7-8CD9-B64EE865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"/>
            <a:ext cx="10934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29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Review and Q&amp;A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928D8A-7AE3-4D49-9143-3E698C7D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9472BC-92A6-49DE-B19D-8E3D9FE2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Trainocate × CP ALL  ·  One convenience store, two kinds of helpers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11F33B-2A6A-48AA-9F86-D38820DA5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05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7BCAD0-B1E5-4CA5-A5A4-B44DAB3E2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28750"/>
            <a:ext cx="10248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เลือก Trigger, Connector และ checkpoint ให้เหมาะกับงานจริงหนึ่งเรื่อง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47C69C-E397-49FE-8181-0782A3F7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9EEEE"/>
          </a:solidFill>
          <a:ln xmlns:a="http://schemas.openxmlformats.org/drawingml/2006/main" w="19050">
            <a:solidFill>
              <a:srgbClr val="C83C4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26008C-E9A3-4311-AEE3-C57964E8C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3C4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C83C42"/>
                </a:solidFill>
                <a:latin typeface="Tahoma"/>
                <a:ea typeface="Tahoma"/>
                <a:cs typeface="Tahoma"/>
              </a:rPr>
              <a:t>ร้านสะดวกซื้อ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D11152-1C2B-456A-83E5-D3CE71FA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ผู้ช่วยหลังร้านทำตามขั้นตอนที่กำหนด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DA3E92-E7A1-405C-96AB-511A0B8D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2933700"/>
            <a:ext cx="5524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616676-AB61-423A-986B-FAB9C770A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B2E5F5-4239-4ABD-94D1-1BA9F6175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OFFICIAL TERM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47EF78-A453-4BBA-ABB2-0B088312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Official Microsoft concept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943E7C-BE30-4150-AC4D-DA0B9C3E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933700"/>
            <a:ext cx="5524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3C42"/>
          </a:solidFill>
          <a:ln xmlns:a="http://schemas.openxmlformats.org/drawingml/2006/main" w="0">
            <a:solidFill>
              <a:srgbClr val="C83C4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9741A6-45C7-487D-9CA2-F2E110AF8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0955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2D2253-F02C-4B67-8302-42B680C8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3050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17324D"/>
                </a:solidFill>
                <a:latin typeface="Tahoma"/>
                <a:ea typeface="Tahoma"/>
                <a:cs typeface="Tahoma"/>
              </a:rPr>
              <a:t>CHECKPOINT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1986B5-F2D8-434A-A820-CFF4B549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68605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32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7324D"/>
                </a:solidFill>
                <a:latin typeface="Tahoma"/>
                <a:ea typeface="Tahoma"/>
                <a:cs typeface="Tahoma"/>
              </a:rPr>
              <a:t>Hands-on checkpoint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62BED4-7EE6-40E2-8713-DB974A77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62500"/>
            <a:ext cx="1024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06174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506174"/>
                </a:solidFill>
                <a:latin typeface="Tahoma"/>
                <a:ea typeface="Tahoma"/>
                <a:cs typeface="Tahoma"/>
              </a:rPr>
              <a:t>ใช้ภาพเปรียบเทียบเพื่อจำหลักการ แล้วกลับไปตรวจผลจริงใน Exercise</a:t>
            </a:r>
          </a:p>
        </p:txBody>
      </p:sp>
    </p:spTree>
    <p:extLst>
      <p:ext uri="{BB962C8B-B14F-4D97-AF65-F5344CB8AC3E}">
        <p14:creationId xmlns:p14="http://schemas.microsoft.com/office/powerpoint/2010/main" val="14810785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2026-09-20T02:42:22.2420000Z</dcterms:created>
  <dcterms:modified xsi:type="dcterms:W3CDTF">2026-09-20T02:42:22.2420000Z</dcterms:modified>
</coreProperties>
</file>