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5abb112c8745ac" /><Relationship Type="http://schemas.openxmlformats.org/officeDocument/2006/relationships/extended-properties" Target="/docProps/app.xml" Id="R978b5ab25d874d05" /><Relationship Type="http://schemas.openxmlformats.org/officeDocument/2006/relationships/officeDocument" Target="/ppt/presentation.xml" Id="Re6f5aeeeec3c4e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69f04d1197423f"/>
  </p:sldMasterIdLst>
  <p:notesMasterIdLst>
    <p:notesMasterId xmlns:r="http://schemas.openxmlformats.org/officeDocument/2006/relationships" r:id="R5d2cf3a2dc994912"/>
  </p:notesMasterIdLst>
  <p:sldIdLst>
    <p:sldId xmlns:r="http://schemas.openxmlformats.org/officeDocument/2006/relationships" id="256" r:id="R512c0b779cf244bb"/>
    <p:sldId xmlns:r="http://schemas.openxmlformats.org/officeDocument/2006/relationships" id="257" r:id="R859f92db673b4450"/>
    <p:sldId xmlns:r="http://schemas.openxmlformats.org/officeDocument/2006/relationships" id="258" r:id="R9d60ad1b2a194dca"/>
    <p:sldId xmlns:r="http://schemas.openxmlformats.org/officeDocument/2006/relationships" id="259" r:id="Rb54503e1888a4cd5"/>
    <p:sldId xmlns:r="http://schemas.openxmlformats.org/officeDocument/2006/relationships" id="260" r:id="R646155ac8ba64cd8"/>
    <p:sldId xmlns:r="http://schemas.openxmlformats.org/officeDocument/2006/relationships" id="261" r:id="R0766c67a856b4a94"/>
    <p:sldId xmlns:r="http://schemas.openxmlformats.org/officeDocument/2006/relationships" id="262" r:id="Rabab31ba28f6402c"/>
    <p:sldId xmlns:r="http://schemas.openxmlformats.org/officeDocument/2006/relationships" id="263" r:id="Ree8fbc6686fa4459"/>
    <p:sldId xmlns:r="http://schemas.openxmlformats.org/officeDocument/2006/relationships" id="264" r:id="Rdc60696275f04ece"/>
    <p:sldId xmlns:r="http://schemas.openxmlformats.org/officeDocument/2006/relationships" id="265" r:id="R160e4aedbffe4f89"/>
    <p:sldId xmlns:r="http://schemas.openxmlformats.org/officeDocument/2006/relationships" id="266" r:id="Red1bdac95ea2413f"/>
    <p:sldId xmlns:r="http://schemas.openxmlformats.org/officeDocument/2006/relationships" id="267" r:id="Refc2856dd373499d"/>
    <p:sldId xmlns:r="http://schemas.openxmlformats.org/officeDocument/2006/relationships" id="268" r:id="Ra08dd14db14e4dc7"/>
    <p:sldId xmlns:r="http://schemas.openxmlformats.org/officeDocument/2006/relationships" id="269" r:id="R43a966cccb044f80"/>
    <p:sldId xmlns:r="http://schemas.openxmlformats.org/officeDocument/2006/relationships" id="270" r:id="R6c327f7ba50e426c"/>
    <p:sldId xmlns:r="http://schemas.openxmlformats.org/officeDocument/2006/relationships" id="271" r:id="R0db9fd1743fb40de"/>
    <p:sldId xmlns:r="http://schemas.openxmlformats.org/officeDocument/2006/relationships" id="272" r:id="R7aab2ce571dc4955"/>
    <p:sldId xmlns:r="http://schemas.openxmlformats.org/officeDocument/2006/relationships" id="273" r:id="R2e4fda8ec08b47f9"/>
    <p:sldId xmlns:r="http://schemas.openxmlformats.org/officeDocument/2006/relationships" id="274" r:id="Rb9ea3095f7a84ef7"/>
    <p:sldId xmlns:r="http://schemas.openxmlformats.org/officeDocument/2006/relationships" id="275" r:id="R311c25e40f6c4731"/>
    <p:sldId xmlns:r="http://schemas.openxmlformats.org/officeDocument/2006/relationships" id="276" r:id="Rd62d411ed77c4d75"/>
    <p:sldId xmlns:r="http://schemas.openxmlformats.org/officeDocument/2006/relationships" id="277" r:id="Re62f6f3203bf4ab5"/>
    <p:sldId xmlns:r="http://schemas.openxmlformats.org/officeDocument/2006/relationships" id="278" r:id="R0dc095f554f04e8d"/>
    <p:sldId xmlns:r="http://schemas.openxmlformats.org/officeDocument/2006/relationships" id="279" r:id="Rd2a7d201b7ad4464"/>
    <p:sldId xmlns:r="http://schemas.openxmlformats.org/officeDocument/2006/relationships" id="280" r:id="R9254c1a0469c4009"/>
    <p:sldId xmlns:r="http://schemas.openxmlformats.org/officeDocument/2006/relationships" id="281" r:id="R42babee24e724124"/>
    <p:sldId xmlns:r="http://schemas.openxmlformats.org/officeDocument/2006/relationships" id="282" r:id="Rb74b536d4623455c"/>
    <p:sldId xmlns:r="http://schemas.openxmlformats.org/officeDocument/2006/relationships" id="283" r:id="R4255be435a874537"/>
    <p:sldId xmlns:r="http://schemas.openxmlformats.org/officeDocument/2006/relationships" id="284" r:id="R6b29014dcda441b6"/>
    <p:sldId xmlns:r="http://schemas.openxmlformats.org/officeDocument/2006/relationships" id="285" r:id="R1360d2de191f4662"/>
    <p:sldId xmlns:r="http://schemas.openxmlformats.org/officeDocument/2006/relationships" id="286" r:id="R9f7654d7b16440e8"/>
    <p:sldId xmlns:r="http://schemas.openxmlformats.org/officeDocument/2006/relationships" id="287" r:id="Re9b4cf4efc744d50"/>
    <p:sldId xmlns:r="http://schemas.openxmlformats.org/officeDocument/2006/relationships" id="288" r:id="Rd1d99fdff82c47c3"/>
    <p:sldId xmlns:r="http://schemas.openxmlformats.org/officeDocument/2006/relationships" id="289" r:id="R66c0717f94dc469e"/>
    <p:sldId xmlns:r="http://schemas.openxmlformats.org/officeDocument/2006/relationships" id="290" r:id="Ra84aa46d817f441c"/>
    <p:sldId xmlns:r="http://schemas.openxmlformats.org/officeDocument/2006/relationships" id="291" r:id="Rc05e8b1acb8f46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b48583320347bd" /><Relationship Type="http://schemas.openxmlformats.org/officeDocument/2006/relationships/slideMaster" Target="/ppt/slideMasters/slideMaster1.xml" Id="Rd269f04d1197423f" /><Relationship Type="http://schemas.openxmlformats.org/officeDocument/2006/relationships/notesMaster" Target="/ppt/notesMasters/notesMaster1.xml" Id="R5d2cf3a2dc994912" /><Relationship Type="http://schemas.openxmlformats.org/officeDocument/2006/relationships/presProps" Target="/ppt/presProps.xml" Id="Rdef8bcd60993467d" /><Relationship Type="http://schemas.openxmlformats.org/officeDocument/2006/relationships/tableStyles" Target="/ppt/tableStyles.xml" Id="Rd45e8c60e39240bc" /><Relationship Type="http://schemas.openxmlformats.org/officeDocument/2006/relationships/slide" Target="/ppt/slides/slide1.xml" Id="R512c0b779cf244bb" /><Relationship Type="http://schemas.openxmlformats.org/officeDocument/2006/relationships/slide" Target="/ppt/slides/slide2.xml" Id="R859f92db673b4450" /><Relationship Type="http://schemas.openxmlformats.org/officeDocument/2006/relationships/slide" Target="/ppt/slides/slide3.xml" Id="R9d60ad1b2a194dca" /><Relationship Type="http://schemas.openxmlformats.org/officeDocument/2006/relationships/slide" Target="/ppt/slides/slide4.xml" Id="Rb54503e1888a4cd5" /><Relationship Type="http://schemas.openxmlformats.org/officeDocument/2006/relationships/slide" Target="/ppt/slides/slide5.xml" Id="R646155ac8ba64cd8" /><Relationship Type="http://schemas.openxmlformats.org/officeDocument/2006/relationships/slide" Target="/ppt/slides/slide6.xml" Id="R0766c67a856b4a94" /><Relationship Type="http://schemas.openxmlformats.org/officeDocument/2006/relationships/slide" Target="/ppt/slides/slide7.xml" Id="Rabab31ba28f6402c" /><Relationship Type="http://schemas.openxmlformats.org/officeDocument/2006/relationships/slide" Target="/ppt/slides/slide8.xml" Id="Ree8fbc6686fa4459" /><Relationship Type="http://schemas.openxmlformats.org/officeDocument/2006/relationships/slide" Target="/ppt/slides/slide9.xml" Id="Rdc60696275f04ece" /><Relationship Type="http://schemas.openxmlformats.org/officeDocument/2006/relationships/slide" Target="/ppt/slides/slide10.xml" Id="R160e4aedbffe4f89" /><Relationship Type="http://schemas.openxmlformats.org/officeDocument/2006/relationships/slide" Target="/ppt/slides/slide11.xml" Id="Red1bdac95ea2413f" /><Relationship Type="http://schemas.openxmlformats.org/officeDocument/2006/relationships/slide" Target="/ppt/slides/slide12.xml" Id="Refc2856dd373499d" /><Relationship Type="http://schemas.openxmlformats.org/officeDocument/2006/relationships/slide" Target="/ppt/slides/slide13.xml" Id="Ra08dd14db14e4dc7" /><Relationship Type="http://schemas.openxmlformats.org/officeDocument/2006/relationships/slide" Target="/ppt/slides/slide14.xml" Id="R43a966cccb044f80" /><Relationship Type="http://schemas.openxmlformats.org/officeDocument/2006/relationships/slide" Target="/ppt/slides/slide15.xml" Id="R6c327f7ba50e426c" /><Relationship Type="http://schemas.openxmlformats.org/officeDocument/2006/relationships/slide" Target="/ppt/slides/slide16.xml" Id="R0db9fd1743fb40de" /><Relationship Type="http://schemas.openxmlformats.org/officeDocument/2006/relationships/slide" Target="/ppt/slides/slide17.xml" Id="R7aab2ce571dc4955" /><Relationship Type="http://schemas.openxmlformats.org/officeDocument/2006/relationships/slide" Target="/ppt/slides/slide18.xml" Id="R2e4fda8ec08b47f9" /><Relationship Type="http://schemas.openxmlformats.org/officeDocument/2006/relationships/slide" Target="/ppt/slides/slide19.xml" Id="Rb9ea3095f7a84ef7" /><Relationship Type="http://schemas.openxmlformats.org/officeDocument/2006/relationships/slide" Target="/ppt/slides/slide20.xml" Id="R311c25e40f6c4731" /><Relationship Type="http://schemas.openxmlformats.org/officeDocument/2006/relationships/slide" Target="/ppt/slides/slide21.xml" Id="Rd62d411ed77c4d75" /><Relationship Type="http://schemas.openxmlformats.org/officeDocument/2006/relationships/slide" Target="/ppt/slides/slide22.xml" Id="Re62f6f3203bf4ab5" /><Relationship Type="http://schemas.openxmlformats.org/officeDocument/2006/relationships/slide" Target="/ppt/slides/slide23.xml" Id="R0dc095f554f04e8d" /><Relationship Type="http://schemas.openxmlformats.org/officeDocument/2006/relationships/slide" Target="/ppt/slides/slide24.xml" Id="Rd2a7d201b7ad4464" /><Relationship Type="http://schemas.openxmlformats.org/officeDocument/2006/relationships/slide" Target="/ppt/slides/slide25.xml" Id="R9254c1a0469c4009" /><Relationship Type="http://schemas.openxmlformats.org/officeDocument/2006/relationships/slide" Target="/ppt/slides/slide26.xml" Id="R42babee24e724124" /><Relationship Type="http://schemas.openxmlformats.org/officeDocument/2006/relationships/slide" Target="/ppt/slides/slide27.xml" Id="Rb74b536d4623455c" /><Relationship Type="http://schemas.openxmlformats.org/officeDocument/2006/relationships/slide" Target="/ppt/slides/slide28.xml" Id="R4255be435a874537" /><Relationship Type="http://schemas.openxmlformats.org/officeDocument/2006/relationships/slide" Target="/ppt/slides/slide29.xml" Id="R6b29014dcda441b6" /><Relationship Type="http://schemas.openxmlformats.org/officeDocument/2006/relationships/slide" Target="/ppt/slides/slide30.xml" Id="R1360d2de191f4662" /><Relationship Type="http://schemas.openxmlformats.org/officeDocument/2006/relationships/slide" Target="/ppt/slides/slide31.xml" Id="R9f7654d7b16440e8" /><Relationship Type="http://schemas.openxmlformats.org/officeDocument/2006/relationships/slide" Target="/ppt/slides/slide32.xml" Id="Re9b4cf4efc744d50" /><Relationship Type="http://schemas.openxmlformats.org/officeDocument/2006/relationships/slide" Target="/ppt/slides/slide33.xml" Id="Rd1d99fdff82c47c3" /><Relationship Type="http://schemas.openxmlformats.org/officeDocument/2006/relationships/slide" Target="/ppt/slides/slide34.xml" Id="R66c0717f94dc469e" /><Relationship Type="http://schemas.openxmlformats.org/officeDocument/2006/relationships/slide" Target="/ppt/slides/slide35.xml" Id="Ra84aa46d817f441c" /><Relationship Type="http://schemas.openxmlformats.org/officeDocument/2006/relationships/slide" Target="/ppt/slides/slide36.xml" Id="Rc05e8b1acb8f46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cf4026029e44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c3ee1f7cd74ac7" /><Relationship Type="http://schemas.openxmlformats.org/officeDocument/2006/relationships/notesMaster" Target="/ppt/notesMasters/notesMaster1.xml" Id="R96240a3e521742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7219452e9e456d" /><Relationship Type="http://schemas.openxmlformats.org/officeDocument/2006/relationships/notesMaster" Target="/ppt/notesMasters/notesMaster1.xml" Id="Ra070ee94e52147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df1d6d68ec41c5" /><Relationship Type="http://schemas.openxmlformats.org/officeDocument/2006/relationships/notesMaster" Target="/ppt/notesMasters/notesMaster1.xml" Id="R9c5b4df6a39045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0ef929a97d4c3e" /><Relationship Type="http://schemas.openxmlformats.org/officeDocument/2006/relationships/notesMaster" Target="/ppt/notesMasters/notesMaster1.xml" Id="R71fabcc308df46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e0c21a94c34008" /><Relationship Type="http://schemas.openxmlformats.org/officeDocument/2006/relationships/notesMaster" Target="/ppt/notesMasters/notesMaster1.xml" Id="R21916f4f83204e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24f54205734a0f" /><Relationship Type="http://schemas.openxmlformats.org/officeDocument/2006/relationships/notesMaster" Target="/ppt/notesMasters/notesMaster1.xml" Id="Rf4a95687792c4e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0dd3016f634b86" /><Relationship Type="http://schemas.openxmlformats.org/officeDocument/2006/relationships/notesMaster" Target="/ppt/notesMasters/notesMaster1.xml" Id="Rf2886319cfc243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e232acf4dd45d4" /><Relationship Type="http://schemas.openxmlformats.org/officeDocument/2006/relationships/notesMaster" Target="/ppt/notesMasters/notesMaster1.xml" Id="R6ce4350f9ced45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959c058e0948ff" /><Relationship Type="http://schemas.openxmlformats.org/officeDocument/2006/relationships/notesMaster" Target="/ppt/notesMasters/notesMaster1.xml" Id="R4158d5d355be40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d26d0a15064266" /><Relationship Type="http://schemas.openxmlformats.org/officeDocument/2006/relationships/notesMaster" Target="/ppt/notesMasters/notesMaster1.xml" Id="R37e2816ef02545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a65acf0b834bcc" /><Relationship Type="http://schemas.openxmlformats.org/officeDocument/2006/relationships/notesMaster" Target="/ppt/notesMasters/notesMaster1.xml" Id="R50ddd7b53d4e49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f360df3a214c01" /><Relationship Type="http://schemas.openxmlformats.org/officeDocument/2006/relationships/notesMaster" Target="/ppt/notesMasters/notesMaster1.xml" Id="R2672ee6680694e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2ab7784cbf4bfc" /><Relationship Type="http://schemas.openxmlformats.org/officeDocument/2006/relationships/notesMaster" Target="/ppt/notesMasters/notesMaster1.xml" Id="R1a7f5d84abda4b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59cb204cad41c7" /><Relationship Type="http://schemas.openxmlformats.org/officeDocument/2006/relationships/notesMaster" Target="/ppt/notesMasters/notesMaster1.xml" Id="R9050f332a9b94d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761fee17b84c53" /><Relationship Type="http://schemas.openxmlformats.org/officeDocument/2006/relationships/notesMaster" Target="/ppt/notesMasters/notesMaster1.xml" Id="Rde59ddc543c34c2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365af1b65214de9" /><Relationship Type="http://schemas.openxmlformats.org/officeDocument/2006/relationships/notesMaster" Target="/ppt/notesMasters/notesMaster1.xml" Id="Rfa352e932163411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2f4b52013394971" /><Relationship Type="http://schemas.openxmlformats.org/officeDocument/2006/relationships/notesMaster" Target="/ppt/notesMasters/notesMaster1.xml" Id="Rd9f4a190951b420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16ce55418534ef3" /><Relationship Type="http://schemas.openxmlformats.org/officeDocument/2006/relationships/notesMaster" Target="/ppt/notesMasters/notesMaster1.xml" Id="Rd2138e651cd649f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9b62c805cf0439b" /><Relationship Type="http://schemas.openxmlformats.org/officeDocument/2006/relationships/notesMaster" Target="/ppt/notesMasters/notesMaster1.xml" Id="R08233d94f1c64a9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591729048864547" /><Relationship Type="http://schemas.openxmlformats.org/officeDocument/2006/relationships/notesMaster" Target="/ppt/notesMasters/notesMaster1.xml" Id="Re0d31a697c50450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467d338663b43e6" /><Relationship Type="http://schemas.openxmlformats.org/officeDocument/2006/relationships/notesMaster" Target="/ppt/notesMasters/notesMaster1.xml" Id="Rf961b6259bd44ba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ee68a062bb040f4" /><Relationship Type="http://schemas.openxmlformats.org/officeDocument/2006/relationships/notesMaster" Target="/ppt/notesMasters/notesMaster1.xml" Id="R8e5e21be1f3a4ee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6fd1e198e734cd8" /><Relationship Type="http://schemas.openxmlformats.org/officeDocument/2006/relationships/notesMaster" Target="/ppt/notesMasters/notesMaster1.xml" Id="R50d9e5a4befc445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db89afaeda346a9" /><Relationship Type="http://schemas.openxmlformats.org/officeDocument/2006/relationships/notesMaster" Target="/ppt/notesMasters/notesMaster1.xml" Id="Rbcca53b2643a4cb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7641c39edec4948" /><Relationship Type="http://schemas.openxmlformats.org/officeDocument/2006/relationships/notesMaster" Target="/ppt/notesMasters/notesMaster1.xml" Id="R26c80790dff4482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834271db7da4168" /><Relationship Type="http://schemas.openxmlformats.org/officeDocument/2006/relationships/notesMaster" Target="/ppt/notesMasters/notesMaster1.xml" Id="R68b644c495e64be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9fea0d13d004902" /><Relationship Type="http://schemas.openxmlformats.org/officeDocument/2006/relationships/notesMaster" Target="/ppt/notesMasters/notesMaster1.xml" Id="Rffee58f8050c4e7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0d734a19c24423c" /><Relationship Type="http://schemas.openxmlformats.org/officeDocument/2006/relationships/notesMaster" Target="/ppt/notesMasters/notesMaster1.xml" Id="Rd63ff1c87a134b4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df0cc9094a84168" /><Relationship Type="http://schemas.openxmlformats.org/officeDocument/2006/relationships/notesMaster" Target="/ppt/notesMasters/notesMaster1.xml" Id="R3f7c9e2431de447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ccc4bd8b3f54de6" /><Relationship Type="http://schemas.openxmlformats.org/officeDocument/2006/relationships/notesMaster" Target="/ppt/notesMasters/notesMaster1.xml" Id="R0d2a119f4f134cc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f99707d1ff643dd" /><Relationship Type="http://schemas.openxmlformats.org/officeDocument/2006/relationships/notesMaster" Target="/ppt/notesMasters/notesMaster1.xml" Id="Rbe3e6a532eb8440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38ff35a4266446d" /><Relationship Type="http://schemas.openxmlformats.org/officeDocument/2006/relationships/notesMaster" Target="/ppt/notesMasters/notesMaster1.xml" Id="Rf8f84f62c3004d6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154721d461b40b3" /><Relationship Type="http://schemas.openxmlformats.org/officeDocument/2006/relationships/notesMaster" Target="/ppt/notesMasters/notesMaster1.xml" Id="R996317eabcad4ec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c8508b902d540e1" /><Relationship Type="http://schemas.openxmlformats.org/officeDocument/2006/relationships/notesMaster" Target="/ppt/notesMasters/notesMaster1.xml" Id="R85757f895d4c4fc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81b36114e2541e2" /><Relationship Type="http://schemas.openxmlformats.org/officeDocument/2006/relationships/notesMaster" Target="/ppt/notesMasters/notesMaster1.xml" Id="Rff0e8c4314d240e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0335acbbe674a8a" /><Relationship Type="http://schemas.openxmlformats.org/officeDocument/2006/relationships/notesMaster" Target="/ppt/notesMasters/notesMaster1.xml" Id="R5be8773550cf41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1: Power Automate Day 1</a:t>
            </a:r>
          </a:p>
          <a:p xmlns:a="http://schemas.openxmlformats.org/drawingml/2006/main">
            <a:r>
              <a:t>Teach: วันนี้เราจะทำให้คำของานหนึ่งรายการเดินทางจาก Form ไปถึงผลแจ้งเตือนได้เอง</a:t>
            </a:r>
          </a:p>
          <a:p xmlns:a="http://schemas.openxmlformats.org/drawingml/2006/main">
            <a:r>
              <a:t>Speaker cue: เปิดด้วยคำถาม “ถ้ามีคำขอ 20 รายการ เราจะรู้ได้อย่างไรว่ารายการใดไปถึงขั้นไหน?”</a:t>
            </a:r>
          </a:p>
          <a:p xmlns:a="http://schemas.openxmlformats.org/drawingml/2006/main">
            <a:r>
              <a:t>Analogy bridge: Back-office operations runner → Power Automate cloud flow → today we will move one request through six Standard connectors.</a:t>
            </a:r>
          </a:p>
          <a:p xmlns:a="http://schemas.openxmlformats.org/drawingml/2006/main">
            <a:r>
              <a:t>Learner link: [Day 1 learner journey](./README.md)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2: What you will build</a:t>
            </a:r>
          </a:p>
          <a:p xmlns:a="http://schemas.openxmlformats.org/drawingml/2006/main">
            <a:r>
              <a:t>Teach: ผู้เรียนจะสัมผัส connector ทีละตัวและเห็นผลจริงก่อนต่อเป็น workflow เดียว</a:t>
            </a:r>
          </a:p>
          <a:p xmlns:a="http://schemas.openxmlformats.org/drawingml/2006/main">
            <a:r>
              <a:t>Speaker cue: ย้ำว่าทุกขั้นมีผลที่ตรวจได้ ไม่ต้องจำทุกเมนูพร้อมกัน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3: One task-request story</a:t>
            </a:r>
          </a:p>
          <a:p xmlns:a="http://schemas.openxmlformats.org/drawingml/2006/main">
            <a:r>
              <a:t>Teach: เรื่องเดียวตลอดวันช่วยให้เห็นว่าข้อมูลเดิมเดินทางอย่างไร</a:t>
            </a:r>
          </a:p>
          <a:p xmlns:a="http://schemas.openxmlformats.org/drawingml/2006/main">
            <a:r>
              <a:t>Speaker cue: ใช้ข้อมูลสมมติและ workbook ส่วนตัวเท่านั้น</a:t>
            </a:r>
          </a:p>
          <a:p xmlns:a="http://schemas.openxmlformats.org/drawingml/2006/main">
            <a:r>
              <a:t>Analogy bridge: ใบคำขอหนึ่งใบในร้าน → request record เดียว → ติดตาม `RequestId` เดิมตั้งแต่ Form ถึง Teams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4: Success at 16:00</a:t>
            </a:r>
          </a:p>
          <a:p xmlns:a="http://schemas.openxmlformats.org/drawingml/2006/main">
            <a:r>
              <a:t>Teach: สร้าง ทดสอบ ตรวจผลปลายทาง และอ่าน Run history ได้</a:t>
            </a:r>
          </a:p>
          <a:p xmlns:a="http://schemas.openxmlformats.org/drawingml/2006/main">
            <a:r>
              <a:t>Speaker cue: ให้ผู้เรียนเลือกหนึ่งทักษะที่อยากนำไปใช้หลังคลาส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5: What makes a task automatable</a:t>
            </a:r>
          </a:p>
          <a:p xmlns:a="http://schemas.openxmlformats.org/drawingml/2006/main">
            <a:r>
              <a:t>Teach: งานที่เหมาะมีจุดเริ่ม ข้อมูล กติกา และผลลัพธ์ชัด</a:t>
            </a:r>
          </a:p>
          <a:p xmlns:a="http://schemas.openxmlformats.org/drawingml/2006/main">
            <a:r>
              <a:t>Speaker cue: เปรียบ flow กับสูตรอาหาร คนยังเป็นผู้เลือกเมนูและตรวจรส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6: Trigger, Action and Connector</a:t>
            </a:r>
          </a:p>
          <a:p xmlns:a="http://schemas.openxmlformats.org/drawingml/2006/main">
            <a:r>
              <a:t>Teach: Trigger เริ่มงาน, Action ทำงาน, Connector เชื่อมบริการ</a:t>
            </a:r>
          </a:p>
          <a:p xmlns:a="http://schemas.openxmlformats.org/drawingml/2006/main">
            <a:r>
              <a:t>Speaker cue: Trigger คือเหตุการณ์ที่เรียกผู้ช่วยหลังร้าน, Connector คือทางเข้าใช้บริการ, Action คืองานหนึ่งอย่างที่บริการนั้นทำ</a:t>
            </a:r>
          </a:p>
          <a:p xmlns:a="http://schemas.openxmlformats.org/drawingml/2006/main">
            <a:r>
              <a:t>Analogy bridge: ใบคำขอเข้าถาด → Trigger; ทางที่ผู้ช่วยเข้าถึงจุดงาน → Connector; การส่งอีเมลหรือเพิ่มแถว → Action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7: Three cloud flow types</a:t>
            </a:r>
          </a:p>
          <a:p xmlns:a="http://schemas.openxmlformats.org/drawingml/2006/main">
            <a:r>
              <a:t>Teach: Instant เริ่มโดยคน, Automated เริ่มจากเหตุการณ์, Scheduled เริ่มตามเวลา</a:t>
            </a:r>
          </a:p>
          <a:p xmlns:a="http://schemas.openxmlformats.org/drawingml/2006/main">
            <a:r>
              <a:t>Speaker cue: วันนี้ build Instant และ Automated; Scheduled อยู่ใน take-home reference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8: Connector map for today</a:t>
            </a:r>
          </a:p>
          <a:p xmlns:a="http://schemas.openxmlformats.org/drawingml/2006/main">
            <a:r>
              <a:t>Teach: Outlook, Forms, Excel, Approvals, SharePoint และ Teams เป็น Standard connectors ในเส้นทางนี้</a:t>
            </a:r>
          </a:p>
          <a:p xmlns:a="http://schemas.openxmlformats.org/drawingml/2006/main">
            <a:r>
              <a:t>Speaker cue: OneDrive เก็บ workbook ที่เตรียมไว้ ไม่ต้องทำ flow ซ้ำเพื่อพิสูจน์ connector อีกครั้ง</a:t>
            </a:r>
          </a:p>
          <a:p xmlns:a="http://schemas.openxmlformats.org/drawingml/2006/main">
            <a:r>
              <a:t>Analogy bridge: จุดบริการหกจุดในหลังร้าน → six Standard connectors → แต่ละ Exercise มี checkpoint ที่ปลายทางจริง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9: Permission and policy still matter</a:t>
            </a:r>
          </a:p>
          <a:p xmlns:a="http://schemas.openxmlformats.org/drawingml/2006/main">
            <a:r>
              <a:t>Teach: Standard connector ยังต้องมีบัญชี connection, permission และ DLP policy ที่อนุญาต</a:t>
            </a:r>
          </a:p>
          <a:p xmlns:a="http://schemas.openxmlformats.org/drawingml/2006/main">
            <a:r>
              <a:t>Speaker cue: เปรียบกับบัตรโดยสารที่ยังต้องขึ้นรถสายถูกและผ่านประตูที่เปิด</a:t>
            </a:r>
          </a:p>
          <a:p xmlns:a="http://schemas.openxmlformats.org/drawingml/2006/main">
            <a:r>
              <a:t>Learner link: [Instructor readiness](./instructor-readiness-checklist.md)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10: Safe data and human checks</a:t>
            </a:r>
          </a:p>
          <a:p xmlns:a="http://schemas.openxmlformats.org/drawingml/2006/main">
            <a:r>
              <a:t>Teach: ใช้ข้อมูลสมมติ ตรวจผลจริง และไม่ส่งข้อมูลลับออกนอกระบบที่กำหนด</a:t>
            </a:r>
          </a:p>
          <a:p xmlns:a="http://schemas.openxmlformats.org/drawingml/2006/main">
            <a:r>
              <a:t>Speaker cue: เครื่องหมาย Succeeded ไม่แทนการตรวจ Inbox, Excel, SharePoint หรือ Teams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11: The smallest useful flow</a:t>
            </a:r>
          </a:p>
          <a:p xmlns:a="http://schemas.openxmlformats.org/drawingml/2006/main">
            <a:r>
              <a:t>Teach: Manual trigger รับข้อมูลแล้ว `Send an email (V2)` ส่งผลทันที</a:t>
            </a:r>
          </a:p>
          <a:p xmlns:a="http://schemas.openxmlformats.org/drawingml/2006/main">
            <a:r>
              <a:t>Speaker cue: เริ่มเล็กเหมือนทดลองกดกริ่งก่อนต่อระบบทั้งบ้าน</a:t>
            </a:r>
          </a:p>
          <a:p xmlns:a="http://schemas.openxmlformats.org/drawingml/2006/main">
            <a:r>
              <a:t>Learner link: [Exercise 1](./exercises/01-first-task-notification/README.md)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12: Trigger inputs</a:t>
            </a:r>
          </a:p>
          <a:p xmlns:a="http://schemas.openxmlformats.org/drawingml/2006/main">
            <a:r>
              <a:t>Teach: `TaskTitle` และ `RecipientEmail` เป็นข้อมูลที่ flow ต้องใช้</a:t>
            </a:r>
          </a:p>
          <a:p xmlns:a="http://schemas.openxmlformats.org/drawingml/2006/main">
            <a:r>
              <a:t>Speaker cue: ให้ผู้เรียนตรวจชนิดและชื่อ input ก่อนเพิ่ม action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13: Map Dynamic content</a:t>
            </a:r>
          </a:p>
          <a:p xmlns:a="http://schemas.openxmlformats.org/drawingml/2006/main">
            <a:r>
              <a:t>Teach: Output ของ trigger กลายเป็น input ของ Outlook action</a:t>
            </a:r>
          </a:p>
          <a:p xmlns:a="http://schemas.openxmlformats.org/drawingml/2006/main">
            <a:r>
              <a:t>Speaker cue: เปรียบ Dynamic content กับช่องว่างในจดหมายเวียน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14: Inbox is the checkpoint</a:t>
            </a:r>
          </a:p>
          <a:p xmlns:a="http://schemas.openxmlformats.org/drawingml/2006/main">
            <a:r>
              <a:t>Teach: Run ต้อง Succeeded และอีเมลต้องมาถึงพร้อมค่าที่ถูกต้อง</a:t>
            </a:r>
          </a:p>
          <a:p xmlns:a="http://schemas.openxmlformats.org/drawingml/2006/main">
            <a:r>
              <a:t>Speaker cue: ให้ผู้เรียนเทียบค่าที่กรอกกับอีเมล ไม่หยุดที่เครื่องหมายสีเขียว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15: A Form starts the request</a:t>
            </a:r>
          </a:p>
          <a:p xmlns:a="http://schemas.openxmlformats.org/drawingml/2006/main">
            <a:r>
              <a:t>Teach: Form ทำให้ข้อมูลเริ่มต้นครบและเป็นรูปแบบเดียวกัน</a:t>
            </a:r>
          </a:p>
          <a:p xmlns:a="http://schemas.openxmlformats.org/drawingml/2006/main">
            <a:r>
              <a:t>Speaker cue: ชี้ว่าฟอร์มเหมือนใบรับเรื่อง ไม่ใช่ฐานข้อมูล</a:t>
            </a:r>
          </a:p>
          <a:p xmlns:a="http://schemas.openxmlformats.org/drawingml/2006/main">
            <a:r>
              <a:t>Learner link: [Exercise 2](./exercises/02-collect-and-record-requests/README.md)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16: One response, one row</a:t>
            </a:r>
          </a:p>
          <a:p xmlns:a="http://schemas.openxmlformats.org/drawingml/2006/main">
            <a:r>
              <a:t>Teach: `When a new response is submitted` ตามด้วย `Get response details` แล้วเพิ่มหนึ่งแถว</a:t>
            </a:r>
          </a:p>
          <a:p xmlns:a="http://schemas.openxmlformats.org/drawingml/2006/main">
            <a:r>
              <a:t>Speaker cue: หยุดทดสอบเมื่อ response แรกเพิ่ม row ได้ ก่อนต่อขั้นอื่น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17: Prepared personal workbook</a:t>
            </a:r>
          </a:p>
          <a:p xmlns:a="http://schemas.openxmlformats.org/drawingml/2006/main">
            <a:r>
              <a:t>Teach: แต่ละคนใช้ `task-request-tracker.xlsx` ของตนใน OneDrive และ table ชื่อ `RequestsTable`</a:t>
            </a:r>
          </a:p>
          <a:p xmlns:a="http://schemas.openxmlformats.org/drawingml/2006/main">
            <a:r>
              <a:t>Speaker cue: ตรวจ worksheet/table แล้วปิด workbook ก่อน run</a:t>
            </a:r>
          </a:p>
          <a:p xmlns:a="http://schemas.openxmlformats.org/drawingml/2006/main">
            <a:r>
              <a:t>Analogy bridge: สมุดรับเรื่องหลังร้าน → `RequestsTable` → หนึ่ง Form response ต้องเพิ่มหนึ่งแถวและเก็บ `RequestId` ไว้ตามงาน</a:t>
            </a:r>
          </a:p>
          <a:p xmlns:a="http://schemas.openxmlformats.org/drawingml/2006/main">
            <a:r>
              <a:t>Learner link: [Excel tracker](./files/task-request-tracker.xlsx)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18: Map the eight columns</a:t>
            </a:r>
          </a:p>
          <a:p xmlns:a="http://schemas.openxmlformats.org/drawingml/2006/main">
            <a:r>
              <a:t>Teach: `RequestId` เป็น key; fields อื่นเก็บเรื่อง ผู้ขอ หมวด วันต้องการ สถานะ และผลตัดสินใจ</a:t>
            </a:r>
          </a:p>
          <a:p xmlns:a="http://schemas.openxmlformats.org/drawingml/2006/main">
            <a:r>
              <a:t>Speaker cue: `Status` เริ่มเป็น Pending และ `Decision` ยังว่าง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19: RequestId is the tracking number</a:t>
            </a:r>
          </a:p>
          <a:p xmlns:a="http://schemas.openxmlformats.org/drawingml/2006/main">
            <a:r>
              <a:t>Teach: Forms `Response Id` ใช้ค้นหาแถวเดิมในขั้นอนุมัติ</a:t>
            </a:r>
          </a:p>
          <a:p xmlns:a="http://schemas.openxmlformats.org/drawingml/2006/main">
            <a:r>
              <a:t>Speaker cue: เปรียบกับเลขรับเรื่องที่ช่วยไม่ให้อัปเดตผิดรายการ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20: Check the row, not just the run</a:t>
            </a:r>
          </a:p>
          <a:p xmlns:a="http://schemas.openxmlformats.org/drawingml/2006/main">
            <a:r>
              <a:t>Teach: ตรวจว่ามีหนึ่ง row ใหม่และค่าตรงกับ Form</a:t>
            </a:r>
          </a:p>
          <a:p xmlns:a="http://schemas.openxmlformats.org/drawingml/2006/main">
            <a:r>
              <a:t>Speaker cue: รอการอัปเดตแล้ว refresh; อย่าเปิดแก้ workbook ระหว่าง connector เขียน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21: Start and wait for an approval</a:t>
            </a:r>
          </a:p>
          <a:p xmlns:a="http://schemas.openxmlformats.org/drawingml/2006/main">
            <a:r>
              <a:t>Teach: `Start and wait for an approval` ส่งคำขอและรอ `Outcome`</a:t>
            </a:r>
          </a:p>
          <a:p xmlns:a="http://schemas.openxmlformats.org/drawingml/2006/main">
            <a:r>
              <a:t>Speaker cue: ใช้ผู้อนุมัติหนึ่งคนเพื่อให้ผู้เริ่มต้นเห็นผลเร็ว</a:t>
            </a:r>
          </a:p>
          <a:p xmlns:a="http://schemas.openxmlformats.org/drawingml/2006/main">
            <a:r>
              <a:t>Analogy bridge: ผู้ช่วยยื่นใบให้หัวหน้าและรอคำตัดสิน → `Start and wait for an approval` → ตรวจว่า Approve/Reject กลับมาที่ flow</a:t>
            </a:r>
          </a:p>
          <a:p xmlns:a="http://schemas.openxmlformats.org/drawingml/2006/main">
            <a:r>
              <a:t>Learner link: [Exercise 3](./exercises/03-ask-for-a-decision/README.md)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22: Configure the approval</a:t>
            </a:r>
          </a:p>
          <a:p xmlns:a="http://schemas.openxmlformats.org/drawingml/2006/main">
            <a:r>
              <a:t>Teach: Title, Assigned to และ Details ต้องทำให้ผู้อนุมัติตัดสินใจได้</a:t>
            </a:r>
          </a:p>
          <a:p xmlns:a="http://schemas.openxmlformats.org/drawingml/2006/main">
            <a:r>
              <a:t>Speaker cue: ใช้ `Response Id` ใน Details เพื่อย้อนตรวจคำขอ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23: Approval versus email options</a:t>
            </a:r>
          </a:p>
          <a:p xmlns:a="http://schemas.openxmlformats.org/drawingml/2006/main">
            <a:r>
              <a:t>Teach: Email options เป็นคำตอบแบบเบา; Approvals ให้ output และประวัติเฉพาะกระบวนการอนุมัติ</a:t>
            </a:r>
          </a:p>
          <a:p xmlns:a="http://schemas.openxmlformats.org/drawingml/2006/main">
            <a:r>
              <a:t>Speaker cue: อธิบายสั้น ๆ แล้วกลับสู่ action ที่ผู้เรียนกำลังสร้าง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24: Outcome controls the Condition</a:t>
            </a:r>
          </a:p>
          <a:p xmlns:a="http://schemas.openxmlformats.org/drawingml/2006/main">
            <a:r>
              <a:t>Teach: `Outcome is equal to Approve` แยก If yes กับ If no</a:t>
            </a:r>
          </a:p>
          <a:p xmlns:a="http://schemas.openxmlformats.org/drawingml/2006/main">
            <a:r>
              <a:t>Speaker cue: ให้ผู้เรียนพูดกติกาเป็นภาษาคนก่อนสร้าง Condition</a:t>
            </a:r>
          </a:p>
          <a:p xmlns:a="http://schemas.openxmlformats.org/drawingml/2006/main">
            <a:r>
              <a:t>Analogy bridge: ถาดสองสีหลังคำตัดสิน → Condition branches → Approve และ Reject ต้องอัปเดตแถว `RequestId` เดียวกัน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25: Update the matching row</a:t>
            </a:r>
          </a:p>
          <a:p xmlns:a="http://schemas.openxmlformats.org/drawingml/2006/main">
            <a:r>
              <a:t>Teach: `Update a row` ใช้ Key Column `RequestId` และ Forms `Response Id`</a:t>
            </a:r>
          </a:p>
          <a:p xmlns:a="http://schemas.openxmlformats.org/drawingml/2006/main">
            <a:r>
              <a:t>Speaker cue: ตรวจทั้ง Status และ Decision และทดสอบคนละ RequestId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26: SharePoint as the filing cabinet</a:t>
            </a:r>
          </a:p>
          <a:p xmlns:a="http://schemas.openxmlformats.org/drawingml/2006/main">
            <a:r>
              <a:t>Teach: Excel ติดตามสถานะ ส่วน SharePoint document library เก็บไฟล์สรุปของ Approved</a:t>
            </a:r>
          </a:p>
          <a:p xmlns:a="http://schemas.openxmlformats.org/drawingml/2006/main">
            <a:r>
              <a:t>Speaker cue: ใช้ site/library ที่มีอยู่แล้ว ไม่สร้าง list หรือ site ระหว่างคลาส</a:t>
            </a:r>
          </a:p>
          <a:p xmlns:a="http://schemas.openxmlformats.org/drawingml/2006/main">
            <a:r>
              <a:t>Analogy bridge: ตู้เอกสารสำหรับเรื่องที่อนุมัติแล้ว → SharePoint document library → เฉพาะ Approved สร้าง text file หนึ่งไฟล์</a:t>
            </a:r>
          </a:p>
          <a:p xmlns:a="http://schemas.openxmlformats.org/drawingml/2006/main">
            <a:r>
              <a:t>Learner link: [Exercise 7](./exercises/07-archive-approved-request-in-sharepoint/README.md)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27: Create one text file</a:t>
            </a:r>
          </a:p>
          <a:p xmlns:a="http://schemas.openxmlformats.org/drawingml/2006/main">
            <a:r>
              <a:t>Teach: `Create file` อยู่ใน If yes หลัง Excel update และใช้ชื่อ `Request-[Response Id].txt`</a:t>
            </a:r>
          </a:p>
          <a:p xmlns:a="http://schemas.openxmlformats.org/drawingml/2006/main">
            <a:r>
              <a:t>Speaker cue: ตรวจ Site Address, Folder Path, File Name และ File Content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28: Prove the boundary</a:t>
            </a:r>
          </a:p>
          <a:p xmlns:a="http://schemas.openxmlformats.org/drawingml/2006/main">
            <a:r>
              <a:t>Teach: Approved ต้องมีไฟล์; Rejected ต้องไม่มีไฟล์</a:t>
            </a:r>
          </a:p>
          <a:p xmlns:a="http://schemas.openxmlformats.org/drawingml/2006/main">
            <a:r>
              <a:t>Speaker cue: การไม่เกิดไฟล์ใน Rejected เป็นผลที่ต้องตรวจ ไม่ใช่สิ่งที่เดา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29: Add a direct Teams result</a:t>
            </a:r>
          </a:p>
          <a:p xmlns:a="http://schemas.openxmlformats.org/drawingml/2006/main">
            <a:r>
              <a:t>Teach: `Post message in a chat or channel` ส่งผลไปยัง direct chat โดยไม่ต้องสร้าง Team/channel</a:t>
            </a:r>
          </a:p>
          <a:p xmlns:a="http://schemas.openxmlformats.org/drawingml/2006/main">
            <a:r>
              <a:t>Speaker cue: Workflows app และ connector path ต้องผ่าน rehearsal</a:t>
            </a:r>
          </a:p>
          <a:p xmlns:a="http://schemas.openxmlformats.org/drawingml/2006/main">
            <a:r>
              <a:t>Analogy bridge: ผู้ช่วยแจ้งผลกลับจุดรับเรื่อง → Teams direct chat → ทั้ง Approved และ Rejected ต้องมีข้อความผลลัพธ์</a:t>
            </a:r>
          </a:p>
          <a:p xmlns:a="http://schemas.openxmlformats.org/drawingml/2006/main">
            <a:r>
              <a:t>Learner link: [Exercise 8](./exercises/08-notify-requester-in-teams/README.md)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30: Map recipient and message</a:t>
            </a:r>
          </a:p>
          <a:p xmlns:a="http://schemas.openxmlformats.org/drawingml/2006/main">
            <a:r>
              <a:t>Teach: Recipient มาจาก `Requester email`; ข้อความมี RequestId, Title, result และ next step</a:t>
            </a:r>
          </a:p>
          <a:p xmlns:a="http://schemas.openxmlformats.org/drawingml/2006/main">
            <a:r>
              <a:t>Speaker cue: ใช้อีเมลฝึกของตนเองและข้อมูลสมมติ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31: Check both Teams messages</a:t>
            </a:r>
          </a:p>
          <a:p xmlns:a="http://schemas.openxmlformats.org/drawingml/2006/main">
            <a:r>
              <a:t>Teach: Approved และ Rejected ต้องส่งข้อความที่ต่างกันและตรงกับ RequestId</a:t>
            </a:r>
          </a:p>
          <a:p xmlns:a="http://schemas.openxmlformats.org/drawingml/2006/main">
            <a:r>
              <a:t>Speaker cue: เปิดข้อความจริงและเทียบกับ Run history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32: Integrated two-path test</a:t>
            </a:r>
          </a:p>
          <a:p xmlns:a="http://schemas.openxmlformats.org/drawingml/2006/main">
            <a:r>
              <a:t>Teach: ทดสอบ Form สองรายการ: Approve หนึ่งรายการและ Reject หนึ่งรายการ</a:t>
            </a:r>
          </a:p>
          <a:p xmlns:a="http://schemas.openxmlformats.org/drawingml/2006/main">
            <a:r>
              <a:t>Speaker cue: Approved: Excel updated, file created, Teams sent. Rejected: Excel updated, no file, Teams sent.</a:t>
            </a:r>
          </a:p>
          <a:p xmlns:a="http://schemas.openxmlformats.org/drawingml/2006/main">
            <a:r>
              <a:t>Learner link: [Sample requests](./files/sample-requests.md)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33: Recover from a controlled failure</a:t>
            </a:r>
          </a:p>
          <a:p xmlns:a="http://schemas.openxmlformats.org/drawingml/2006/main">
            <a:r>
              <a:t>Teach: Run history ชี้จุดล้มเหลว และ Run After กำหนดสิ่งที่เกิดเมื่อ action fail</a:t>
            </a:r>
          </a:p>
          <a:p xmlns:a="http://schemas.openxmlformats.org/drawingml/2006/main">
            <a:r>
              <a:t>Speaker cue: ทำ controlled failure หนึ่งครั้ง ซ่อม แล้วพิสูจน์ว่า run ใหม่สำเร็จ</a:t>
            </a:r>
          </a:p>
          <a:p xmlns:a="http://schemas.openxmlformats.org/drawingml/2006/main">
            <a:r>
              <a:t>Analogy bridge: จุดงานหยุดบนกระดานหลังร้าน → Run history and Run After → อ่านจุดล้มเหลว ซ่อม แล้วพิสูจน์ด้วย successful run ใหม่</a:t>
            </a:r>
          </a:p>
          <a:p xmlns:a="http://schemas.openxmlformats.org/drawingml/2006/main">
            <a:r>
              <a:t>Learner link: [Exercise 5](./exercises/05-understand-and-recover-from-errors/README.md)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34: Govern the whole workflow</a:t>
            </a:r>
          </a:p>
          <a:p xmlns:a="http://schemas.openxmlformats.org/drawingml/2006/main">
            <a:r>
              <a:t>Teach: ตรวจ owner, connection, least access, data boundary และ monitoring ก่อนนำไปใช้จริง</a:t>
            </a:r>
          </a:p>
          <a:p xmlns:a="http://schemas.openxmlformats.org/drawingml/2006/main">
            <a:r>
              <a:t>Speaker cue: Governance ไม่ใช่บทท้ายแยกออกมา แต่เป็นกติกาที่ใช้ทุก connector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35: AI Builder overview and demonstration</a:t>
            </a:r>
          </a:p>
          <a:p xmlns:a="http://schemas.openxmlformats.org/drawingml/2006/main">
            <a:r>
              <a:t>Teach: AI Builder เพิ่มการอ่านหรือจัดประเภทข้อมูลใน flow ได้ แต่วันนี้เป็น demo/discussion เท่านั้น</a:t>
            </a:r>
          </a:p>
          <a:p xmlns:a="http://schemas.openxmlformats.org/drawingml/2006/main">
            <a:r>
              <a:t>Speaker cue: สาธิต use case ขนาดเล็กหรือ saved result; ไม่ให้ผู้เรียนเตรียม model/license และไม่เพิ่ม hands-on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36: Review and Q&amp;A</a:t>
            </a:r>
          </a:p>
          <a:p xmlns:a="http://schemas.openxmlformats.org/drawingml/2006/main">
            <a:r>
              <a:t>Teach: เลือก Trigger, Connector และ checkpoint ให้เหมาะกับงานจริงหนึ่งเรื่อง</a:t>
            </a:r>
          </a:p>
          <a:p xmlns:a="http://schemas.openxmlformats.org/drawingml/2006/main">
            <a:r>
              <a:t>Speaker cue: ทบทวน Outlook, Forms, Excel, Approvals, SharePoint, Teams และ error recovery; จบ 16:00</a:t>
            </a:r>
          </a:p>
          <a:p xmlns:a="http://schemas.openxmlformats.org/drawingml/2006/main">
            <a:r>
              <a:t>Analogy bridge: ผู้ช่วยหลังร้านทำตามขั้นตอนที่กำหนด → Day 1 Power Automate; พรุ่งนี้ผู้ช่วยหน้าเคาน์เตอร์จะสนทนาและส่งงานที่ยืนยันแล้วมาให้ flow</a:t>
            </a:r>
          </a:p>
          <a:p xmlns:a="http://schemas.openxmlformats.org/drawingml/2006/main">
            <a:r>
              <a:t>Analogy reminder: the back-office operations runner helps us see how a Power Automate flow carries one request through defined services. Always return to the official connector or action name and the observable Exercise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181dffcbd841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03394f57a2487b" /><Relationship Type="http://schemas.openxmlformats.org/officeDocument/2006/relationships/slideLayout" Target="/ppt/slideLayouts/slideLayout1.xml" Id="Rd6692138b1c346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692138b1c346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3313d3a7d4b4b" /><Relationship Type="http://schemas.openxmlformats.org/officeDocument/2006/relationships/image" Target="/ppt/media/image.png" Id="R52ee9752021d49b1" /><Relationship Type="http://schemas.openxmlformats.org/officeDocument/2006/relationships/notesSlide" Target="/ppt/notesSlides/notesSlide1.xml" Id="R5a96b0dda56746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b137bcd154187" /><Relationship Type="http://schemas.openxmlformats.org/officeDocument/2006/relationships/notesSlide" Target="/ppt/notesSlides/notesSlide2.xml" Id="R6eb7d1bb3fb54e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80066f8b04741" /><Relationship Type="http://schemas.openxmlformats.org/officeDocument/2006/relationships/notesSlide" Target="/ppt/notesSlides/notesSlide3.xml" Id="Rfd395a3f002c49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76adb543d4398" /><Relationship Type="http://schemas.openxmlformats.org/officeDocument/2006/relationships/notesSlide" Target="/ppt/notesSlides/notesSlide4.xml" Id="R8ac7e62559a641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5b1a90bf34cfd" /><Relationship Type="http://schemas.openxmlformats.org/officeDocument/2006/relationships/notesSlide" Target="/ppt/notesSlides/notesSlide5.xml" Id="R55532fe3d16f4a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977d9b3b844b8" /><Relationship Type="http://schemas.openxmlformats.org/officeDocument/2006/relationships/image" Target="/ppt/media/image2.png" Id="Ra6eacaeb5b684101" /><Relationship Type="http://schemas.openxmlformats.org/officeDocument/2006/relationships/notesSlide" Target="/ppt/notesSlides/notesSlide6.xml" Id="R3c05ad9856ed47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6740d1be84f8e" /><Relationship Type="http://schemas.openxmlformats.org/officeDocument/2006/relationships/notesSlide" Target="/ppt/notesSlides/notesSlide7.xml" Id="R128c001692a845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45982184d47cd" /><Relationship Type="http://schemas.openxmlformats.org/officeDocument/2006/relationships/notesSlide" Target="/ppt/notesSlides/notesSlide8.xml" Id="R095fd5f94f9b4c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67fe038d746c1" /><Relationship Type="http://schemas.openxmlformats.org/officeDocument/2006/relationships/notesSlide" Target="/ppt/notesSlides/notesSlide9.xml" Id="Rc70ab38511174b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90d7ddf904c16" /><Relationship Type="http://schemas.openxmlformats.org/officeDocument/2006/relationships/notesSlide" Target="/ppt/notesSlides/notesSlide10.xml" Id="R1a84f4287afb41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7d39a1d0c4e5c" /><Relationship Type="http://schemas.openxmlformats.org/officeDocument/2006/relationships/notesSlide" Target="/ppt/notesSlides/notesSlide11.xml" Id="R64d360a7a1584d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34424182948d9" /><Relationship Type="http://schemas.openxmlformats.org/officeDocument/2006/relationships/notesSlide" Target="/ppt/notesSlides/notesSlide12.xml" Id="Rbc7062aa1b3e4f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1af25608b45ee" /><Relationship Type="http://schemas.openxmlformats.org/officeDocument/2006/relationships/notesSlide" Target="/ppt/notesSlides/notesSlide13.xml" Id="Rae7fa21ff65147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776e6557e4adc" /><Relationship Type="http://schemas.openxmlformats.org/officeDocument/2006/relationships/notesSlide" Target="/ppt/notesSlides/notesSlide14.xml" Id="R8905d0a254d142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bfda9c6fa4640" /><Relationship Type="http://schemas.openxmlformats.org/officeDocument/2006/relationships/notesSlide" Target="/ppt/notesSlides/notesSlide15.xml" Id="R2e2e73681bdb49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58e95d2214a11" /><Relationship Type="http://schemas.openxmlformats.org/officeDocument/2006/relationships/notesSlide" Target="/ppt/notesSlides/notesSlide16.xml" Id="R581c73e5123a45f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293c6e2c04beb" /><Relationship Type="http://schemas.openxmlformats.org/officeDocument/2006/relationships/notesSlide" Target="/ppt/notesSlides/notesSlide17.xml" Id="Ra7a7ce3cd38c4c4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ea10aa893463d" /><Relationship Type="http://schemas.openxmlformats.org/officeDocument/2006/relationships/notesSlide" Target="/ppt/notesSlides/notesSlide18.xml" Id="Raa08f21917db459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ee790b1f74f03" /><Relationship Type="http://schemas.openxmlformats.org/officeDocument/2006/relationships/notesSlide" Target="/ppt/notesSlides/notesSlide19.xml" Id="R20ec4f212c0b40d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f52faa9c8415b" /><Relationship Type="http://schemas.openxmlformats.org/officeDocument/2006/relationships/notesSlide" Target="/ppt/notesSlides/notesSlide20.xml" Id="Reffb5c1068f3432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114fa73a24a71" /><Relationship Type="http://schemas.openxmlformats.org/officeDocument/2006/relationships/image" Target="/ppt/media/image3.png" Id="R62cdfb2f92dc4e04" /><Relationship Type="http://schemas.openxmlformats.org/officeDocument/2006/relationships/notesSlide" Target="/ppt/notesSlides/notesSlide21.xml" Id="Rb88051052ac84f9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1a5d569d44577" /><Relationship Type="http://schemas.openxmlformats.org/officeDocument/2006/relationships/notesSlide" Target="/ppt/notesSlides/notesSlide22.xml" Id="R86ba1bcaaac6428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3b5b3ccb64d24" /><Relationship Type="http://schemas.openxmlformats.org/officeDocument/2006/relationships/notesSlide" Target="/ppt/notesSlides/notesSlide23.xml" Id="Rb4fe7b4b722f4f6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a0ab6e7b84040" /><Relationship Type="http://schemas.openxmlformats.org/officeDocument/2006/relationships/notesSlide" Target="/ppt/notesSlides/notesSlide24.xml" Id="Rf8ff8ba35398420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bc32705b94c90" /><Relationship Type="http://schemas.openxmlformats.org/officeDocument/2006/relationships/notesSlide" Target="/ppt/notesSlides/notesSlide25.xml" Id="Rf84132ca3c9f42e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af56cbcf64b80" /><Relationship Type="http://schemas.openxmlformats.org/officeDocument/2006/relationships/notesSlide" Target="/ppt/notesSlides/notesSlide26.xml" Id="R758b98c73e29459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29e249368498a" /><Relationship Type="http://schemas.openxmlformats.org/officeDocument/2006/relationships/notesSlide" Target="/ppt/notesSlides/notesSlide27.xml" Id="Rc1481d77b1cd492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965e8cefa4034" /><Relationship Type="http://schemas.openxmlformats.org/officeDocument/2006/relationships/notesSlide" Target="/ppt/notesSlides/notesSlide28.xml" Id="Rfeee33bb0fce4c3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09ea47a16462a" /><Relationship Type="http://schemas.openxmlformats.org/officeDocument/2006/relationships/notesSlide" Target="/ppt/notesSlides/notesSlide29.xml" Id="Ree743ecf8324444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d24e9126443b2" /><Relationship Type="http://schemas.openxmlformats.org/officeDocument/2006/relationships/notesSlide" Target="/ppt/notesSlides/notesSlide30.xml" Id="R3b1caa0e66014b2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a43542690420b" /><Relationship Type="http://schemas.openxmlformats.org/officeDocument/2006/relationships/notesSlide" Target="/ppt/notesSlides/notesSlide31.xml" Id="Ra731c83593644b8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0d6eff4514f46" /><Relationship Type="http://schemas.openxmlformats.org/officeDocument/2006/relationships/notesSlide" Target="/ppt/notesSlides/notesSlide32.xml" Id="Ree2347aca79246e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c6734861c4ce3" /><Relationship Type="http://schemas.openxmlformats.org/officeDocument/2006/relationships/image" Target="/ppt/media/image4.png" Id="R28b6c8abbe6a4704" /><Relationship Type="http://schemas.openxmlformats.org/officeDocument/2006/relationships/notesSlide" Target="/ppt/notesSlides/notesSlide33.xml" Id="R0a85c92580c5477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69c2d5240471b" /><Relationship Type="http://schemas.openxmlformats.org/officeDocument/2006/relationships/notesSlide" Target="/ppt/notesSlides/notesSlide34.xml" Id="Rfab9097267b1414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b39f0450e4578" /><Relationship Type="http://schemas.openxmlformats.org/officeDocument/2006/relationships/notesSlide" Target="/ppt/notesSlides/notesSlide35.xml" Id="R7a1902f0350048b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95fa1c948458f" /><Relationship Type="http://schemas.openxmlformats.org/officeDocument/2006/relationships/notesSlide" Target="/ppt/notesSlides/notesSlide36.xml" Id="Rf04b55b056544f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F24CC-4E6D-4C34-A9FC-00324ED5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48C02-DFA0-47B9-9C96-ADC091A0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Power Automate Day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26452-C39E-4BB3-9E1E-CA1C2A4A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E3AF0-DA65-4EF5-B28C-F3F1AF71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00459-2836-45C9-B459-BB5290BA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3F2D8-66B3-453D-853E-3163C1B0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99949-C897-41A8-9FA0-5F717812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5000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ผู้ช่วยหลังร้าน</a:t>
            </a:r>
          </a:p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ทำตามขั้นตอน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1EBEF-43A4-4836-913B-E40100D1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718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วันนี้เราจะทำให้คำของานหนึ่งรายการเดินทางจาก Form ไปถึงผลแจ้งเตือนได้เอง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B182B-5C39-485E-A888-A28C9B75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4572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9525">
            <a:solidFill>
              <a:srgbClr val="C83C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74BA1-0888-494B-8D25-0AF67307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9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Power Automate = back-office operations runner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e9752021d49b1"/>
          <a:srcRect xmlns:a="http://schemas.openxmlformats.org/drawingml/2006/main" l="16915" t="0" r="169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352550"/>
            <a:ext cx="5353050" cy="4552950"/>
          </a:xfrm>
          <a:prstGeom xmlns:a="http://schemas.openxmlformats.org/drawingml/2006/main" prst="roundRect">
            <a:avLst>
              <a:gd name="adj" fmla="val 3347"/>
            </a:avLst>
          </a:prstGeom>
        </p:spPr>
      </p:pic>
    </p:spTree>
    <p:extLst>
      <p:ext uri="{BB962C8B-B14F-4D97-AF65-F5344CB8AC3E}">
        <p14:creationId xmlns:p14="http://schemas.microsoft.com/office/powerpoint/2010/main" val="17202798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17005B-D4AF-4DB9-83D3-AA59E32E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E186D-F6B6-4E0F-B49F-113CDC12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What you will 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373B0-C686-4244-9478-9AC8112D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10C7F-30C0-4E26-87F2-742204D4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09D41-B982-402F-9B64-E8690445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E8F03-E509-4FE0-BDA4-86AEF0FF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ผู้เรียนจะสัมผัส connector ทีละตัวและเห็นผลจริงก่อนต่อเป็น workflow เดียว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08385-2039-40DA-8964-B9D4BC19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DAAD4-0F3E-4CED-A090-D0F13F6F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4439E-A772-408C-AFC4-F5BD259E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Six connector touchpoints with one checkpoint each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3903F-6F46-450E-AFEC-E83A1C94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8A3C1-22C9-4033-B819-750BAAE1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2CE76-4E05-41A8-B224-C2BD364E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FD0FD6-D1FC-44F3-AA76-207574CA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56B56-AEC8-4B3B-B0E2-A1E4FCF1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D172E4-CC5D-43CD-9583-3A1C348D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F36CA1-65C9-48C4-B814-8A0273D4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ย้ำว่าทุกขั้นมีผลที่ตรวจได้ ไม่ต้องจำทุกเมนูพร้อมกัน</a:t>
            </a:r>
          </a:p>
        </p:txBody>
      </p:sp>
    </p:spTree>
    <p:extLst>
      <p:ext uri="{BB962C8B-B14F-4D97-AF65-F5344CB8AC3E}">
        <p14:creationId xmlns:p14="http://schemas.microsoft.com/office/powerpoint/2010/main" val="13582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1C16E7-0F6A-4CBB-9281-1D766497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3D09D-72A0-4F40-9ADD-04D85FCB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One task-request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C2563-9292-481C-A6FD-F00530A4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D34AA-073C-4C1C-8C25-A450BAF6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A6167-04D4-4A78-AD87-7C31E84B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F63D4-3656-43B2-9FA3-E4D20368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เรื่องเดียวตลอดวันช่วยให้เห็นว่าข้อมูลเดิมเดินทางอย่างไร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CEB43-8020-4BBA-8EB9-9AFCA929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D6AE3-1854-4B1F-90B7-688E1875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ร้านสะดวกซื้อ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BC3E4-94E3-4325-A08B-04E580D4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ใบคำขอหนึ่งใบในร้าน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8FEB2-345E-41F5-B696-329F1F88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1365D-D350-4B18-86E7-D1F5D5C5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130D4-1FF6-45F5-9845-71E44473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OFFICIAL 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C6658-50B7-4146-B284-247223FE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request record เดียว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44009-E294-45CF-930F-158392F9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AA5AB-EE47-460A-945A-41E84ED1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EE043-61C3-447E-8981-24E3BEB0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CHECKPOINT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974599-598A-48B3-986A-AF968B1A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ติดตาม RequestId เดิมตั้งแต่ Form ถึง Teams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C6D02-2F3B-4B7D-BB75-89BB604C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ใช้ภาพเปรียบเทียบเพื่อจำหลักการ แล้วกลับไปตรวจผลจริงใน Exercise</a:t>
            </a:r>
          </a:p>
        </p:txBody>
      </p:sp>
    </p:spTree>
    <p:extLst>
      <p:ext uri="{BB962C8B-B14F-4D97-AF65-F5344CB8AC3E}">
        <p14:creationId xmlns:p14="http://schemas.microsoft.com/office/powerpoint/2010/main" val="12619523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61F34F-AE25-44C2-B569-114D24BB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00C35-9504-4D1D-A1E5-2A1DB4B0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Success at 16:00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6B17C-1F81-4277-920B-02FBCB20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CC785-ECA6-4E75-8C70-957C894A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4DD25-A5D2-4617-B0CB-AB1283E0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DAC02-D37A-4265-BE5A-E01EC335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สร้าง ทดสอบ ตรวจผลปลายทาง และอ่าน Run history ได้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7FF6A-22D0-4C4E-B491-D6584B9B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23907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6F20B-EA71-4A41-8292-725F3DB5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54468-DFC1-442F-872A-5DA1F54B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20097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6A11D-5909-4A38-8A6F-79624AED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806EA-C57A-492A-AE09-8522D65B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86050"/>
            <a:ext cx="23907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B0035-BB77-44D8-B36A-2CA8AB16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00B32B-3A52-4215-9681-5620A43A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90875"/>
            <a:ext cx="20097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2264D-8D11-4771-8691-7236BE3C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6AE781-C6A7-4B89-83F4-7D366E00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23907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0BF5E-7518-42AE-85FA-74015E79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6C403-6122-4696-8671-EB9A5C16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20097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Decide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0267CC-CD88-4EBD-8429-492C6E74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5CB52B-0A4E-42F8-A348-20262971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23907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8EE6A0-E10D-408B-99D2-A13A546A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333234-68B0-43E5-8C2B-0F68C55E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0097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Recover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2E004-737E-47B2-9A2E-1D1DA4CE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7FF24D-CE33-4DF4-ACB0-A6F6E130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6C6A2F-B2EE-4909-A938-7333D758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ให้ผู้เรียนเลือกหนึ่งทักษะที่อยากนำไปใช้หลังคลาส</a:t>
            </a:r>
          </a:p>
        </p:txBody>
      </p:sp>
    </p:spTree>
    <p:extLst>
      <p:ext uri="{BB962C8B-B14F-4D97-AF65-F5344CB8AC3E}">
        <p14:creationId xmlns:p14="http://schemas.microsoft.com/office/powerpoint/2010/main" val="7783100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92DBF6-CC25-483B-A924-24184E77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539AA-0EB4-474C-9771-8907AE49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What makes a task automatable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5AAAE-41D5-4513-A5B8-8B2353E8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299B4-37DC-4FBF-9C43-A89893D8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45278-5378-4B8D-9D52-43EF0006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C03E0-27E0-458B-B882-7DF2AAB3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งานที่เหมาะมีจุดเริ่ม ข้อมูล กติกา และผลลัพธ์ชัด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674FC-C4C4-484C-ADC8-E329771F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BBB64-9FA7-4CBB-9B75-EFB0ED42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3CC4B-E41E-4311-AF55-78F6C797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Repeatable recipe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F17E4-8AD7-425D-97DF-A8D0E47C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12727-BA31-42AD-B156-96DA737C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031AF-7A3D-41FA-9EFB-98ED037E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98980-95F8-44DE-BB6B-81678C49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judgment-heavy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1C265-0BDB-405E-892E-D0C94232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468D2-D52E-458A-B7CE-5420CE89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889E7-0AE9-4558-AAA6-26113B9A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เปรียบ flow กับสูตรอาหาร คนยังเป็นผู้เลือกเมนูและตรวจรส</a:t>
            </a:r>
          </a:p>
        </p:txBody>
      </p:sp>
    </p:spTree>
    <p:extLst>
      <p:ext uri="{BB962C8B-B14F-4D97-AF65-F5344CB8AC3E}">
        <p14:creationId xmlns:p14="http://schemas.microsoft.com/office/powerpoint/2010/main" val="733319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AD61F-DCA9-4B9D-9995-564631BA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8890A-2BC5-4548-8A39-B23D6AD9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Trigger, Action and Connector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E9CE0-6EF5-4CE6-98CD-55CD6267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CDF62-4C4D-485F-9299-52F8C5A6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7F65E-699F-4304-B502-005ACFC7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11D01-D6B7-4222-A85B-7AF1DAD4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5191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Trigger เริ่มงาน, Action ทำงาน, Connector เชื่อมบริการ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97F18-660A-4256-AA8D-30F055C1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38450"/>
            <a:ext cx="5191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ใบคำขอเข้าถาด → Trigger; ทางที่ผู้ช่วยเข้าถึงจุดงาน → Connector; การส่งอีเมลหรือเพิ่มแถว →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DCB09-9804-4D5E-B777-EE5C110A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191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9525">
            <a:solidFill>
              <a:srgbClr val="C83C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8262F-F907-4A0C-AB9F-96C07775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C83C42"/>
                </a:solidFill>
                <a:latin typeface="Tahoma"/>
                <a:ea typeface="Tahoma"/>
                <a:cs typeface="Tahoma"/>
              </a:rPr>
              <a:t>Trigger คือเหตุการณ์ที่เรียกผู้ช่วยหลังร้าน, Connector คือทางเข้าใช้บริการ, Action คืองานหนึ่งอย่างที่บริการนั้นทำ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acaeb5b684101"/>
          <a:srcRect xmlns:a="http://schemas.openxmlformats.org/drawingml/2006/main" l="16727" t="0" r="167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1381125"/>
            <a:ext cx="5124450" cy="4333875"/>
          </a:xfrm>
          <a:prstGeom xmlns:a="http://schemas.openxmlformats.org/drawingml/2006/main" prst="roundRect">
            <a:avLst>
              <a:gd name="adj" fmla="val 3516"/>
            </a:avLst>
          </a:prstGeom>
        </p:spPr>
      </p:pic>
    </p:spTree>
    <p:extLst>
      <p:ext uri="{BB962C8B-B14F-4D97-AF65-F5344CB8AC3E}">
        <p14:creationId xmlns:p14="http://schemas.microsoft.com/office/powerpoint/2010/main" val="10499215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13F139-B3E0-4C6E-A53E-DEDCCA8A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9E069-71A4-4460-807C-D21B862D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Three cloud flow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2CD68-E1B7-4828-8E0A-21CFEBAC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7B0A0-B185-4692-8839-D99D1FFC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2FE0A-9EFB-45BF-B5E0-1FDA5FC0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7344C-512C-4142-A452-ED229469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Instant เริ่มโดยคน, Automated เริ่มจากเหตุการณ์, Scheduled เริ่มตามเวลา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4BB6E-5579-4FE8-8600-A150DEBA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3263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9260E-0548-4C41-9612-7AE011E0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43F90-8320-4F21-8D85-F248FC02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288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Button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EB0D7-53F6-4BC3-B47A-755E5673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C0150-CFF6-4939-ABC7-B5D42530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25" y="2686050"/>
            <a:ext cx="3263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9F324-8196-4FA4-9EBB-F8F66FFC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1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E94E1-1611-4D8F-B96D-B5D20E32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125" y="3190875"/>
            <a:ext cx="288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incoming 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A9D15-C6FF-472B-9C69-CFB5BE7A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10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3272E-2886-4481-876E-5A4C11BB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125" y="2686050"/>
            <a:ext cx="3263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6734E9-F96B-427F-A685-A7B5B8C8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50E94F-CAA5-4CB2-8629-AA66D3DD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3190875"/>
            <a:ext cx="288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clock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723F9-A3B4-4F33-9037-375B2C4B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2B9F2B-CA3D-49D3-A47F-EC69E0CE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E70F81-CB9D-4815-B812-8C947FF1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วันนี้ build Instant และ Automated; Scheduled อยู่ใน take-home reference</a:t>
            </a:r>
          </a:p>
        </p:txBody>
      </p:sp>
    </p:spTree>
    <p:extLst>
      <p:ext uri="{BB962C8B-B14F-4D97-AF65-F5344CB8AC3E}">
        <p14:creationId xmlns:p14="http://schemas.microsoft.com/office/powerpoint/2010/main" val="6048732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EFBD9-1A9A-4410-9757-C8E72EA3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F0098-C88A-4534-85B9-C89A06E7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Connector map for today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A2165-6F51-4A27-97FF-FDD08123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AD3B3-6BEB-4AFC-8597-D988A450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C9B8C-87DB-44F2-8957-33E4CB16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B3811-1006-424A-85C9-3783AABE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Outlook, Forms, Excel, Approvals, SharePoint และ Teams เป็น Standard connectors ในเส้นทางนี้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5EC03-D961-43F7-A036-C0075294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4282C-1629-483D-9029-6ACE264C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ร้านสะดวกซื้อ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A3269-FE50-4AA6-9BDE-9E0B22C1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จุดบริการหกจุดในหลังร้าน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85323-84F1-4AC1-9F88-57A717FD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B8F3F-0650-4F73-AB8A-D0200608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A31B5-D47C-4FFD-B2D8-935BD931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OFFICIAL 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85471-087E-4CC4-ABD3-816E0778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six Standard connectors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21125-C59C-48D7-A2F4-7A248CAE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BBBF49-1905-4A88-BB3D-D972275E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0DB79-2A2C-461C-9FA5-A79BA22E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CHECKPOINT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580A41-861D-4583-8002-2D7E3C11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แต่ละ Exercise มี checkpoint ที่ปลายทางจริง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5CB2A3-DBBB-4899-9A10-85B292D5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ใช้ภาพเปรียบเทียบเพื่อจำหลักการ แล้วกลับไปตรวจผลจริงใน Exercise</a:t>
            </a:r>
          </a:p>
        </p:txBody>
      </p:sp>
    </p:spTree>
    <p:extLst>
      <p:ext uri="{BB962C8B-B14F-4D97-AF65-F5344CB8AC3E}">
        <p14:creationId xmlns:p14="http://schemas.microsoft.com/office/powerpoint/2010/main" val="20416257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59AD51-ACE0-46FC-AFA8-AE97478C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F7AD2-5032-4719-AEFC-0C01110B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Permission and policy still matter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A71FC-827A-4E8B-B07C-DD8AA4A6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D0ADA-3B0D-47D3-A6D5-350F7018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8E351-E8CE-414C-B17F-EE70A00A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7F688-600F-46C1-A743-50CB6C49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Standard connector ยังต้องมีบัญชี connection, permission และ DLP policy ที่อนุญาต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2282F-4583-4ABB-A98F-A9F31BB8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3263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AE46F-E7BB-4F6F-B841-AFAD8A0A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8974A-4AC7-4128-9304-CBD40D08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288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Three checkpoints: account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A4362-61F8-497D-A7EF-DD6B6C8B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43F51-B1F7-4907-829B-B30FD7A6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25" y="2686050"/>
            <a:ext cx="3263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4AF14-BF3E-4C7E-B4CB-87A8E8A3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1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07A9E-1A2A-4ACA-BD04-E5E7D13D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125" y="3190875"/>
            <a:ext cx="288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connection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9DBB7-5D47-42BA-A075-8D768059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10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3AB1A-36D8-4442-A62E-CC06B495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125" y="2686050"/>
            <a:ext cx="3263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8C7CC9-851F-4C7C-B165-854E9A9A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E780E9-5FF2-406C-9431-F3A5ECDF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3190875"/>
            <a:ext cx="288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policy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5A7F55-CEB5-4404-92B4-6FB89FBE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8156FB-BA9E-44B9-89C1-C77953D7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EBE6A2-19ED-40C4-B73B-2CD6837D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เปรียบกับบัตรโดยสารที่ยังต้องขึ้นรถสายถูกและผ่านประตูที่เปิด</a:t>
            </a:r>
          </a:p>
        </p:txBody>
      </p:sp>
    </p:spTree>
    <p:extLst>
      <p:ext uri="{BB962C8B-B14F-4D97-AF65-F5344CB8AC3E}">
        <p14:creationId xmlns:p14="http://schemas.microsoft.com/office/powerpoint/2010/main" val="20967632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4A6B45-4AF4-48DE-B829-D9954ACB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FOUNDATIONS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1C85A-5229-4E63-A337-252E160B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Safe data and human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8DE9B-8329-4A69-920D-D74A663B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C1387-EE80-4769-A2BE-5BCBF434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FFEFB-AE7E-4A95-9D54-A82A031A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F6B69-814A-47DC-8F22-13F14447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ใช้ข้อมูลสมมติ ตรวจผลจริง และไม่ส่งข้อมูลลับออกนอกระบบที่กำหนด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3C1FD-F398-4461-8E14-C8A54DCD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C4D0F-3E9C-4C6A-A723-FD178756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3429E-CEFA-4342-8375-B43874BE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Synthetic request card and human verification tick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97A06-0E76-48E7-8759-D0C20C96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9A3C3-11A9-4938-AB1A-36EB6AB7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900CC-7FB8-41B7-AED9-743EC9A1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5DFD2-6CD5-463B-8C56-9B7B8323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34215-B8AA-4E14-8B42-3479B6EF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A93FEF-8381-41D9-9990-FAD7F53E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8F6E7E-E7B5-4B63-AEA8-6D59A127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เครื่องหมาย Succeeded ไม่แทนการตรวจ Inbox, Excel, SharePoint หรือ Teams</a:t>
            </a:r>
          </a:p>
        </p:txBody>
      </p:sp>
    </p:spTree>
    <p:extLst>
      <p:ext uri="{BB962C8B-B14F-4D97-AF65-F5344CB8AC3E}">
        <p14:creationId xmlns:p14="http://schemas.microsoft.com/office/powerpoint/2010/main" val="8041657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5280FA-90DB-43B6-8D9A-758CB402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OUTLOOK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1575A-8879-4099-8641-D93AEAA1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The smallest useful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5E95F-7CA9-4877-8B5D-8EABB64D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D942B-8BE7-40AB-B4D1-FF4B92A8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FED8F-EB43-42D8-8F40-8502B2C6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12FB6-3408-48D3-9764-827604AA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Manual trigger รับข้อมูลแล้ว Send an email (V2) ส่งผลทันที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A6113-9D3A-4FE9-87BD-C479E855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B7366-A7D8-4CA5-AC6C-CDBA510C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BC898-EA2D-4E83-B05C-08C485B4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Two-node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D269F-0E21-4B8E-A21C-3621F983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41E35-42C0-4DC6-B85B-8CBC01B2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377A5-52E2-4151-9324-B35301AF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52DF3-638C-4899-85BF-48FFA098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CA1F5-13DD-42D0-ACEB-81E6EB01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F22AB-DA4C-4747-A0A2-362B33FA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B1B6C-6136-4B13-A795-009D8B4F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เริ่มเล็กเหมือนทดลองกดกริ่งก่อนต่อระบบทั้งบ้าน</a:t>
            </a:r>
          </a:p>
        </p:txBody>
      </p:sp>
    </p:spTree>
    <p:extLst>
      <p:ext uri="{BB962C8B-B14F-4D97-AF65-F5344CB8AC3E}">
        <p14:creationId xmlns:p14="http://schemas.microsoft.com/office/powerpoint/2010/main" val="15080816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F1CC6-98CD-4040-A08F-C35400D0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OUTLOOK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9A994-0652-41F4-92D1-DA3DB30D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Trigger inputs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6C9EB-112E-4738-83E5-EADABABE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A5BF5-A9C2-4022-86B5-8E961B4D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F1A3B-7C6B-4415-A8D2-10FC4C89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B06C8-49A3-429D-9F82-BA8AD6E3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TaskTitle และ RecipientEmail เป็นข้อมูลที่ flow ต้องใช้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3C728-125B-4EF3-BC23-94EF9505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94BCC-6B46-451C-81F4-1527A1A2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06F7E-CFE2-4D4E-9F04-B83FED6C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Two input fields flowing to email 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D5F57-D73A-4567-8DF6-3B4C75FD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400AE-A1B9-44D6-8DC7-E3C2CABB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D9406-E6A8-44F9-80EE-E498E0A7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442CE-7A87-4136-871A-05925692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D59C2-A42F-4987-A541-E631E2AA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AC17F-36C4-4242-AD74-D33DBE47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70E5A8-42EB-46D0-BA5F-E52EA740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ให้ผู้เรียนตรวจชนิดและชื่อ input ก่อนเพิ่ม action</a:t>
            </a:r>
          </a:p>
        </p:txBody>
      </p:sp>
    </p:spTree>
    <p:extLst>
      <p:ext uri="{BB962C8B-B14F-4D97-AF65-F5344CB8AC3E}">
        <p14:creationId xmlns:p14="http://schemas.microsoft.com/office/powerpoint/2010/main" val="5813905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ABF894-3D06-4B7C-AFDD-4C2EEB55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OUTLOOK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5FD56-F764-4320-BFB8-B2CF57A4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Map Dynamic 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331CA-8A55-41DA-B6D3-17722FB7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4B0D6-7EE4-48AA-9E14-46795ABA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85417-75AF-4DED-99FD-FC839011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9C6FD-8DA4-4E70-8D9A-28937D77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Output ของ trigger กลายเป็น input ของ Outlook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90508-E999-4C7F-89F5-23730B24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8741E-C63B-4ECB-AE2C-D30ED88B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525C0-56C9-4161-8A60-D3084348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Tagged values moving into To and Subject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9CF58-1BB6-4596-9EE6-3D19B9B2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5E3FC-E9CF-446A-AF4E-0ABD1BDB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81FE9-7C08-413F-968E-A2FA1D41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52A0B-635F-46C5-B750-90ABF943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5044B2-EEF8-465F-A5C1-C08EEAD6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9C16F8-1787-40DE-A547-7BD1E6E9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DE65F-DCE7-4A15-B2C7-BA7649DC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เปรียบ Dynamic content กับช่องว่างในจดหมายเวียน</a:t>
            </a:r>
          </a:p>
        </p:txBody>
      </p:sp>
    </p:spTree>
    <p:extLst>
      <p:ext uri="{BB962C8B-B14F-4D97-AF65-F5344CB8AC3E}">
        <p14:creationId xmlns:p14="http://schemas.microsoft.com/office/powerpoint/2010/main" val="1856271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2FEA85-5174-4C76-9D40-32610FEE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OUTLOOK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2F2BD-05A9-484A-82B2-F1B1F998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Inbox is the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FDDBA-1250-4566-B5FB-3B40FC1B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84F50-E4E5-4A69-A5BF-F2F26529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3DC16-D640-4F22-8254-9462E668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D6E4B-213F-481E-9F27-E96EEB42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Run ต้อง Succeeded และอีเมลต้องมาถึงพร้อมค่าที่ถูกต้อง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090D3-9599-4B08-89C4-73F94F88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1EE58-D65B-4DC2-A12C-26A6CF01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A9B1C-648A-45E3-871A-EAA06B2B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Run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270DF-A5EC-401B-9517-0F5F2DE8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03031-6C99-4D4A-9686-4A01061D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E10B2-8C48-4784-935A-939BB848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F55682-706A-4682-99C1-288FB52F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matching Inbox message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3730DC-B270-42CC-B045-4CC9743A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CFF3E-B947-40E6-8A85-4E4BEDE7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7A2E0-177A-460C-B2EA-F875E392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ให้ผู้เรียนเทียบค่าที่กรอกกับอีเมล ไม่หยุดที่เครื่องหมายสีเขียว</a:t>
            </a:r>
          </a:p>
        </p:txBody>
      </p:sp>
    </p:spTree>
    <p:extLst>
      <p:ext uri="{BB962C8B-B14F-4D97-AF65-F5344CB8AC3E}">
        <p14:creationId xmlns:p14="http://schemas.microsoft.com/office/powerpoint/2010/main" val="18186773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C0837F-F29D-411C-8FBA-8D882A9C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FORMS + EXCEL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4442E-6947-4D97-95B1-3241AD30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 Form starts the request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42D09-DC30-4B24-ADA9-D27ABC70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EB384-4EB5-4018-B9C2-FFBBC9AB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B8836-6433-4C06-91F7-1A4D4516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341A2-82DC-4C4F-B82E-5CFFE907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Form ทำให้ข้อมูลเริ่มต้นครบและเป็นรูปแบบเดียวกัน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EC7D3-E5FC-4021-AFFC-8BFA0CC7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1124A-0FB7-4482-B051-879D661F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12774-9449-4D73-B5C8-758C4A54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Six short form 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DFD43-C7F0-4FBA-B481-F335C93A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8C69A-A308-4326-9D2D-03AD6063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4397D-DC1A-455D-AE87-B8D3B5AC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2304CC-0E4D-4129-AFA6-67BCC9A2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8AA1E-D302-461F-879E-7FFDBDF0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242675-C6C6-448A-A2F0-1AFB2DEA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9E7700-358F-4DA3-8D17-405FDCE6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ชี้ว่าฟอร์มเหมือนใบรับเรื่อง ไม่ใช่ฐานข้อมูล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3987138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5FFBF5-AE78-4BB7-977E-DF317D0A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FORMS + EXCEL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D81AF-D3F9-4708-8CAB-204B7BAD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One response, one row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33BD7-D473-484B-82A0-BE55CAA8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14BED-9337-4C81-97F8-B8E7706D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F97DE-E664-4518-94DF-FC429074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A9B73-E5EB-450F-A1AE-01631E04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When a new response is submitted ตามด้วย Get response details แล้วเพิ่มหนึ่งแถว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982D9D-C9C1-4C6B-A677-4BE8072A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3263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689D5-3288-4C59-9F1C-2998B230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ECB93-71FE-48EC-848B-BC4DE7A1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288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Form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D1C6F-15AF-451B-A023-603B2BF8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2A7B9-67C5-4EC7-BF24-CB0BB703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25" y="2686050"/>
            <a:ext cx="3263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BBAF2-9CCB-420B-B61F-FA62409D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1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F3A43-43C7-47EF-AB40-0FB85815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125" y="3190875"/>
            <a:ext cx="288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details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4B734-975B-43A7-A146-81CE44FD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10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9C92B-BB0A-4818-AC49-D9AA85D3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125" y="2686050"/>
            <a:ext cx="3263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035F1E-14A2-4C22-94D6-EC9C69CA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297614-7BD2-4F60-BBEE-8A4E97ED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3190875"/>
            <a:ext cx="288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Excel row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E2663-F775-49B6-8370-6C95BD49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11F75B-AE5B-4D12-AEE0-E6B3D6BE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C24C1F-6500-47FB-A6C4-3920F51C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หยุดทดสอบเมื่อ response แรกเพิ่ม row ได้ ก่อนต่อขั้นอื่น</a:t>
            </a:r>
          </a:p>
        </p:txBody>
      </p:sp>
    </p:spTree>
    <p:extLst>
      <p:ext uri="{BB962C8B-B14F-4D97-AF65-F5344CB8AC3E}">
        <p14:creationId xmlns:p14="http://schemas.microsoft.com/office/powerpoint/2010/main" val="4933769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0F083-7068-4F81-B353-5E423B3A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FORMS + EXCEL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C0B5C-43D5-4C30-B57A-F70B9930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Prepared personal workbook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0182E-2B1A-41E6-B703-CBAE3B62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BF675-D862-425C-8A68-A80A06C1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260EF-A0C6-4092-88E3-A0DF71FF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5A4E5-6B7A-4776-9F72-BD37DBAD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แต่ละคนใช้ task-request-tracker.xlsx ของตนใน OneDrive และ table ชื่อ RequestsTable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09D49-ED1A-4E86-9AAC-F515DD3A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1C5E6-95FC-4BE2-8449-13A240C1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ร้านสะดวกซื้อ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0B228-A60E-4683-8502-9E74198B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สมุดรับเรื่องหลังร้าน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FF3CF-0D77-4174-A39D-6B11A555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7DD5F-66B5-4A3B-A2B9-1B980F5D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84E32-937F-4056-ABE0-A5737963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OFFICIAL 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47E5A-9945-473D-954A-A5F22DCD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RequestsTable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F78BA-A08C-435B-9D06-199183E0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38D39-3893-480B-9061-7BF25489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1B2E7-2A68-41A7-9FED-8BE2A9A1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CHECKPOINT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F84C06-D032-4C59-99DB-25A452BC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หนึ่ง Form response ต้องเพิ่มหนึ่งแถวและเก็บ RequestId ไว้ตามงาน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29ACC1-6C7A-449D-9150-ED402A12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ใช้ภาพเปรียบเทียบเพื่อจำหลักการ แล้วกลับไปตรวจผลจริงใน Exercise</a:t>
            </a:r>
          </a:p>
        </p:txBody>
      </p:sp>
    </p:spTree>
    <p:extLst>
      <p:ext uri="{BB962C8B-B14F-4D97-AF65-F5344CB8AC3E}">
        <p14:creationId xmlns:p14="http://schemas.microsoft.com/office/powerpoint/2010/main" val="8202375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D3AED7-03A7-4B3F-8BF4-D1723E08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FORMS + EXCEL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E87F0-A5D8-4684-81B0-BF0E5114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Map the eight columns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416C8-E2C3-463D-B086-F4764DDB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4F733-A248-4CB1-A3E5-7BE95190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5CC5A-BE0C-46AA-8302-F76A0D36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31814-B24F-41E7-A324-BCE07E76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RequestId เป็น key; fields อื่นเก็บเรื่อง ผู้ขอ หมวด วันต้องการ สถานะ และผลตัดสินใจ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E806C-0D15-40F5-9F35-DE6FD6D9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E2CAA-9705-4B53-BFE9-67F04588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9616F-165A-4B43-8729-C60FC1FE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Form-to-table mapping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5585F-4470-44A2-8505-5D9FA1C4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BACF9-B012-4921-BEB7-46C13596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FF027-0237-40B3-86E1-2B9F8F06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A282D-DFA7-4E33-951B-618B2FF3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02415-F9FF-4845-96EB-B9639383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BE643-6084-4151-87DF-459E743E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4113E-C708-453D-9AF5-446D3CC2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Status เริ่มเป็น Pending และ Decision ยังว่าง</a:t>
            </a:r>
          </a:p>
        </p:txBody>
      </p:sp>
    </p:spTree>
    <p:extLst>
      <p:ext uri="{BB962C8B-B14F-4D97-AF65-F5344CB8AC3E}">
        <p14:creationId xmlns:p14="http://schemas.microsoft.com/office/powerpoint/2010/main" val="2422777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DEF825-3C96-4385-A582-AFC6B0CA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FORMS + EXCEL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4E157-5945-47C3-8192-FF64CFBA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RequestId is the tracking number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54BD2-C3A6-47D3-A233-1955875D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5E8B1-88FF-4A1D-B083-C53AFEEF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D6EDE-F1D2-42C4-BB02-51EF81A5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1EDB1-ACAF-4893-A597-D83BFC77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Forms Response Id ใช้ค้นหาแถวเดิมในขั้นอนุมัติ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DA625-E2A6-46F4-A7A2-3613AFFB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70EEF-4039-4DA3-ABD9-CFBD7CB9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0A791-CD3D-47A1-9859-94325879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Ticket number stamped on one request row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0C904-4B46-4F45-A057-D7715C54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EA892-A9FE-49C2-9217-E870FA67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F6021-D585-40E7-B78A-BC196492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697A9-FDF8-450D-9DDE-63D45A86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EABBA-2256-4EA6-A0D4-D18BA404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10394-807E-4E1E-87DA-2B0B0A1F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91036-DBD2-48A5-A692-7E2B5766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เปรียบกับเลขรับเรื่องที่ช่วยไม่ให้อัปเดตผิดรายการ</a:t>
            </a:r>
          </a:p>
        </p:txBody>
      </p:sp>
    </p:spTree>
    <p:extLst>
      <p:ext uri="{BB962C8B-B14F-4D97-AF65-F5344CB8AC3E}">
        <p14:creationId xmlns:p14="http://schemas.microsoft.com/office/powerpoint/2010/main" val="6470856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6DEE39-B64B-4772-8A16-49D73674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FORMS + EXCEL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1345E-0C12-4840-B9F0-0DFDF6A6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Check the row, not just the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F119E-68CA-422B-8A17-B9868C48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37756-E309-4B2B-9C11-281F2681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D3659-262B-4230-B7DD-7C5E0D64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7C09D-3CD6-49B8-86EB-3B67BC66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ตรวจว่ามีหนึ่ง row ใหม่และค่าตรงกับ 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8559C-89C5-4F93-88F9-2CAC7A24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083AA-8A6B-4293-8413-85A173CA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72F5D-8C50-49B7-B453-CCE52C60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Submitted 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224ED-674A-4FA3-ADFD-21923FA1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2C8C9-93F3-47D2-8139-5508F390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97A42-CB16-4703-97DB-8D3170D8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6289C-A83D-415E-BE0C-A56D4AA1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the matching 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B3D762-F479-427F-A3A7-BABCD3DC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93E3B5-23F5-44B1-84A7-46A5ED74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D2C9A7-3053-44DD-B562-A8B05D4D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รอการอัปเดตแล้ว refresh; อย่าเปิดแก้ workbook ระหว่าง connector เขียน</a:t>
            </a:r>
          </a:p>
        </p:txBody>
      </p:sp>
    </p:spTree>
    <p:extLst>
      <p:ext uri="{BB962C8B-B14F-4D97-AF65-F5344CB8AC3E}">
        <p14:creationId xmlns:p14="http://schemas.microsoft.com/office/powerpoint/2010/main" val="5383457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7D2AC-757A-4B4E-94A9-113FE133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APPROVALS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28D28-1A4D-44B2-9E4D-DFF100B4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Start and wait for an approval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E6CF4-DD5B-4816-8047-A8B87493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EE8B6-EB2D-4CF6-9DA2-55B9B4AA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7372A-BF6E-4B7A-8F22-0A661EDC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8E9B9-734E-4679-9AD5-66777AA9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5191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Start and wait for an approval ส่งคำขอและรอ Outcome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45262-E7C7-4A93-AEB0-CE038AEB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38450"/>
            <a:ext cx="5191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ผู้ช่วยยื่นใบให้หัวหน้าและรอคำตัดสิน → Start and wait for an approval → ตรวจว่า Approve/Reject กลับมาที่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3800B-51E1-47F2-A81A-9711386D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191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9525">
            <a:solidFill>
              <a:srgbClr val="C83C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5A02E-D3EC-4313-B77C-DFC2945D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ใช้ผู้อนุมัติหนึ่งคนเพื่อให้ผู้เริ่มต้นเห็นผลเร็ว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dfb2f92dc4e04"/>
          <a:srcRect xmlns:a="http://schemas.openxmlformats.org/drawingml/2006/main" l="16727" t="0" r="167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1381125"/>
            <a:ext cx="5124450" cy="4333875"/>
          </a:xfrm>
          <a:prstGeom xmlns:a="http://schemas.openxmlformats.org/drawingml/2006/main" prst="roundRect">
            <a:avLst>
              <a:gd name="adj" fmla="val 3516"/>
            </a:avLst>
          </a:prstGeom>
        </p:spPr>
      </p:pic>
    </p:spTree>
    <p:extLst>
      <p:ext uri="{BB962C8B-B14F-4D97-AF65-F5344CB8AC3E}">
        <p14:creationId xmlns:p14="http://schemas.microsoft.com/office/powerpoint/2010/main" val="190098071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27201C-D2EF-4F5D-8922-38A2FFF6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APPROVALS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114DE-E50C-4B74-9DBD-9FC2A559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Configure the approval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7C536-F0E3-461B-AE98-0B617A5E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A5444-03E2-4C84-8097-F443CF3D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F1AE3-A28B-4A78-83F7-9B52AC28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18B09-4992-4DE4-9CE9-54C2D897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Title, Assigned to และ Details ต้องทำให้ผู้อนุมัติตัดสินใจได้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763E9-A33D-4B2D-8E04-0C2A4673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2D0B1-01B4-480F-A4C2-26F8C898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81A3C-75B6-4232-974F-C38B39DF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Annotated approval 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4D5F1-828B-4BF1-967A-0D946868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55829-74C1-4DAA-8DB0-0827EAAA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83FBD-E510-4DA9-BB7D-E506F70C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A536FB-C3A8-4BA9-A7FF-DAA6AB16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9951B-DDA9-40F3-8FEE-AF5B35D3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1B0C7-15E3-4E25-9B6C-108F5072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60C41-B3CA-4C0E-8A84-0C716B17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ใช้ Response Id ใน Details เพื่อย้อนตรวจคำขอ</a:t>
            </a:r>
          </a:p>
        </p:txBody>
      </p:sp>
    </p:spTree>
    <p:extLst>
      <p:ext uri="{BB962C8B-B14F-4D97-AF65-F5344CB8AC3E}">
        <p14:creationId xmlns:p14="http://schemas.microsoft.com/office/powerpoint/2010/main" val="161370249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014F76-78A6-46F2-A758-3E940632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APPROVALS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72F28-5DAF-4B2D-9B24-070B215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Approval versus email options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2BB52-F99A-443C-8E35-1BFAC6E9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1D001-4C0C-42AC-BF74-66247984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025D3-6E3A-4D9E-8326-4B27B8D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D2016-1E75-457D-83B3-5E250B4A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Email options เป็นคำตอบแบบเบา; Approvals ให้ output และประวัติเฉพาะกระบวนการอนุมัติ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385D8-C8AC-4BE6-A52C-14D1A7CB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BAE9E-0B1E-4B01-BC6A-2970C2F2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1777B-D7CE-44D4-86CB-2AA1F6DF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Compact two-column comparison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4616C-D999-4193-A447-6E3EB44E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8CAB0-D15E-4F10-9013-2132046B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B0D0C-1090-4BB7-8E74-A6E72485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E6010-187E-450B-878C-C716F54A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29299-A426-4869-B345-1DED3DB9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637EAA-E40B-471E-B717-F190CDD0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88442F-8B63-425D-B7C0-F685B243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อธิบายสั้น ๆ แล้วกลับสู่ action ที่ผู้เรียนกำลังสร้าง</a:t>
            </a:r>
          </a:p>
        </p:txBody>
      </p:sp>
    </p:spTree>
    <p:extLst>
      <p:ext uri="{BB962C8B-B14F-4D97-AF65-F5344CB8AC3E}">
        <p14:creationId xmlns:p14="http://schemas.microsoft.com/office/powerpoint/2010/main" val="93244449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83AA1-4C43-4930-97B8-85418930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APPROVALS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0116E-56D0-42F5-9BBA-B8B9D9CF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Outcome controls the Condition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5696F-8EBB-4202-80EF-5E3A412F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476C6-69AF-42AF-8054-B290EAAB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6D7C4-A7D3-4412-B12C-811EE356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6898B-B033-499C-A6E5-2B90C9B9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Outcome is equal to Approve แยก If yes กับ If 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D2843-C3DC-4CB6-A6B2-90946927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6153D-8EA6-4C76-B09A-C714B03D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ร้านสะดวกซื้อ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CDA54-B414-4CA9-9F0F-F7790C63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ถาดสองสีหลังคำตัดสิน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9E0CE-619D-4FE1-8CB0-836AE5F6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D05BE-75E6-4A49-9B26-63AE3B7A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EC47F-384D-48F4-9C36-0B5BCE24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OFFICIAL 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2CDB3-9436-46F9-8A9F-5A221EB5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Condition branches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BF9C2-D8DC-416B-9DF4-D61D5FA9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003A6-760A-422D-B70C-63DCC951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DB30C9-622C-4D17-B596-22E3B60D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CHECKPOINT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5D852C-620E-48C5-8F51-1B2949A3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Approve และ Reject ต้องอัปเดตแถว RequestId เดียวกัน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7041A3-5080-46E6-9C4A-9EA36CF3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ใช้ภาพเปรียบเทียบเพื่อจำหลักการ แล้วกลับไปตรวจผลจริงใน Exercise</a:t>
            </a:r>
          </a:p>
        </p:txBody>
      </p:sp>
    </p:spTree>
    <p:extLst>
      <p:ext uri="{BB962C8B-B14F-4D97-AF65-F5344CB8AC3E}">
        <p14:creationId xmlns:p14="http://schemas.microsoft.com/office/powerpoint/2010/main" val="23218168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05348E-12EC-49BC-A2A3-C6EBD06E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APPROVALS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77295-040E-47C8-8AE8-4B3C39AF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Update the matching row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68969-28F3-43F7-87B8-5BD257F2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C507B-9CC8-4023-B524-56AE7A59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1AF54-68F3-422A-B9BE-2547820B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E7C65-76A6-4A19-9919-6E7A3C52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Update a row ใช้ Key Column RequestId และ Forms Response 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9C693-9E56-4AEB-BB41-EEF7E87B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83327-CA44-4D4D-B159-EB6B75EB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C1D02-9E76-431E-9D69-F4BE421A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Approve/Reject branches pointing back to one exact row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7B229-BD0F-4902-A082-F9E66589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28FA2-82C2-4855-88D3-B599B750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854AF-5024-468A-9158-A4DE86BC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63CF1E-A03F-4422-B8FC-63EEFB13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7FB98-0BC9-4D42-8AA5-A42C35AC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FCAF0-4D25-4578-BE33-4924BA85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CB60AF-AC52-4ABE-BB47-1832BB56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ตรวจทั้ง Status และ Decision และทดสอบคนละ RequestId</a:t>
            </a:r>
          </a:p>
        </p:txBody>
      </p:sp>
    </p:spTree>
    <p:extLst>
      <p:ext uri="{BB962C8B-B14F-4D97-AF65-F5344CB8AC3E}">
        <p14:creationId xmlns:p14="http://schemas.microsoft.com/office/powerpoint/2010/main" val="66180741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E3195-DB2D-4628-B696-0A849728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SHAREPOINT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5B59B-FB63-4F7A-BC5E-34E92C55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SharePoint as the filing cabinet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B38FD-B187-4B31-92AC-BCCDA784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F12BC-2A96-4C73-84B3-7FA1B025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D8647-12B9-4950-9451-F7DEE5AD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27416-0337-477F-9E94-AD83F977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Excel ติดตามสถานะ ส่วน SharePoint document library เก็บไฟล์สรุปของ Approved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BA254-20A1-40DD-A314-16FE838D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EE1D3-5E95-4382-A8DF-31944A9B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ร้านสะดวกซื้อ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CFF03-F903-4D28-B246-8D002B79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ตู้เอกสารสำหรับเรื่องที่อนุมัติแล้ว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92F0A-607C-494D-BFF0-25E00EB6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2FC26-1F7D-46D2-AD1B-38AFC475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46DD4-C2CC-4C97-A983-ACAA40FD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OFFICIAL 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B3AA6-7D01-4944-A920-30EAB78A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SharePoint document library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3E9BA-8B51-4759-8BCB-C456492F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90961-1ADA-44F7-A06D-51F26BCB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EE850C-C6CD-42A1-8E5F-0BBB484A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CHECKPOINT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AC6C4-2677-4C46-99DD-95A36DBF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เฉพาะ Approved สร้าง text file หนึ่งไฟล์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D76F7D-7034-4F6B-90CA-DFB97505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ใช้ภาพเปรียบเทียบเพื่อจำหลักการ แล้วกลับไปตรวจผลจริงใน Exercise</a:t>
            </a:r>
          </a:p>
        </p:txBody>
      </p:sp>
    </p:spTree>
    <p:extLst>
      <p:ext uri="{BB962C8B-B14F-4D97-AF65-F5344CB8AC3E}">
        <p14:creationId xmlns:p14="http://schemas.microsoft.com/office/powerpoint/2010/main" val="56326146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BA7CE6-D310-4A87-93F2-070B3965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SHAREPOINT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C2A42-D11D-4C9C-A522-A65500E7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Create one text 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ACC5D-716A-403B-9691-96E86423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DCD9A-AA29-40CB-8036-9613A993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A3D04-B17A-441A-9144-69E0A566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F02D9-C2A2-4993-A8A0-CFAADD33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Create file อยู่ใน If yes หลัง Excel update และใช้ชื่อ Request-[Response Id].txt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55AB0-2784-4D70-ABD0-9E085DC0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24891-0A12-4412-9B18-DF1040A9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50965-D0CA-4A4B-A6A5-57E626F3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Approved branch and file 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2B7991-BC60-434D-A23D-4F6D1970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9A210-AE5E-4CE7-A1DE-C6C7BF99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B2069-E73E-4668-ACC0-FC66C51B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B18F8-99CE-4C99-992A-398A7A88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58FB8-B09E-4F19-AA2B-38E3BA42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0A959-48A0-46A9-ADD3-9C0A90B6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2E5F3-D6D8-49B1-9332-19D1EBA0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 Site Address, Folder Path, File Name และ File Content</a:t>
            </a:r>
          </a:p>
        </p:txBody>
      </p:sp>
    </p:spTree>
    <p:extLst>
      <p:ext uri="{BB962C8B-B14F-4D97-AF65-F5344CB8AC3E}">
        <p14:creationId xmlns:p14="http://schemas.microsoft.com/office/powerpoint/2010/main" val="101645938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73686A-A53C-4941-8FF7-00B26038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SHAREPOINT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C222C-376E-4AD3-BC64-300324E0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Prove the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72A8E-765E-400C-86AB-AB9E6AB3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6A14E-F921-4FEA-A540-451CCA5A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D3DD1-52E7-4809-AF38-7906B8D9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E8144-3216-4652-9942-84AE07C7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Approved ต้องมีไฟล์; Rejected ต้องไม่มีไฟล์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1759E-C3EF-4AE4-BB6B-86D56054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DD6E6-342E-4649-B1C9-86BA29CF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E3E74-6701-4817-9644-DFE6EB39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Two test cards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76F49-6F6B-4B56-A654-AFC746E5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DB855-81C5-4E44-B816-913E529F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A1241-3E30-4B70-847B-1831EF74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16B78-78E3-463D-84DC-76261FD8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one file and one no-file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C5FD8-636F-4323-9780-AB8CCD00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C7C61-0661-493D-9273-4441AFBF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8FD7FA-7DE9-4C6C-BEED-4F8344FF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การไม่เกิดไฟล์ใน Rejected เป็นผลที่ต้องตรวจ ไม่ใช่สิ่งที่เดา</a:t>
            </a:r>
          </a:p>
        </p:txBody>
      </p:sp>
    </p:spTree>
    <p:extLst>
      <p:ext uri="{BB962C8B-B14F-4D97-AF65-F5344CB8AC3E}">
        <p14:creationId xmlns:p14="http://schemas.microsoft.com/office/powerpoint/2010/main" val="154518387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0E1A64-5A21-4484-BC9F-E7462E49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TEAMS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E674C-2207-486A-913D-BAAF4737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Add a direct Teams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6B83F-7229-4A93-9302-15BF7CD5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6770E-CDAF-4932-ADA6-9E08F9A8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78E16-9FFB-4C70-BDA4-FA88220A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A2A87-4DD1-40D2-8175-9A7698E9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Post message in a chat or channel ส่งผลไปยัง direct chat โดยไม่ต้องสร้าง Team/channel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E4E20-8B3B-4247-9554-E3B67379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1DAF0-2700-4A1C-9942-3EDBF692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ร้านสะดวกซื้อ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62DAF-F8B4-4652-A95E-97E868FC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ผู้ช่วยแจ้งผลกลับจุดรับเรื่อง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2438C-E9C8-4288-AA10-9BEF78DA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CE64A-02BA-43A9-B2CB-11437154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60E56-9313-470E-8787-C2422CA4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OFFICIAL 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13B29-0703-4A86-9EAC-B6CDBD90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Teams direct chat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7DA8DB-6C04-4E5C-8D6D-C44493A0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76453-CBD5-4585-9326-17826C00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ACB20-9502-4B67-82AC-BC4FD7A4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CHECKPOINT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D43F72-D6E2-4CF5-A8E5-B5089F57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ทั้ง Approved และ Rejected ต้องมีข้อความผลลัพธ์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72983D-1797-4BB5-AE76-E292AE2D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ใช้ภาพเปรียบเทียบเพื่อจำหลักการ แล้วกลับไปตรวจผลจริงใน Exercise</a:t>
            </a:r>
          </a:p>
        </p:txBody>
      </p:sp>
    </p:spTree>
    <p:extLst>
      <p:ext uri="{BB962C8B-B14F-4D97-AF65-F5344CB8AC3E}">
        <p14:creationId xmlns:p14="http://schemas.microsoft.com/office/powerpoint/2010/main" val="109297286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2326CC-F3F4-4CA9-839D-681CF64C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TEAMS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06F8E-A014-4BB5-9676-BE7E2245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Map recipient and message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87119-FAA4-48B2-AA06-3DA05CE1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158D4-9DD0-4DE4-8B2D-60DD1795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E902E-7330-4033-AD74-54E7FB14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CD905-8138-40B9-AF80-A2FFA3D2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Recipient มาจาก Requester email; ข้อความมี RequestId, Title, result และ next step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0A2AD-64FE-4989-9D43-848AD7DA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EE395-D834-4707-AFD1-8469BA70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0689B-2CEB-472C-92FC-8393465A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Dynamic content mapped to message template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A08B9-BF62-40B0-8424-A96D3024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7921A-D8C8-44BA-BFBD-556AAC99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68505-7DF8-46B2-8641-F105E35A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F5B3C-09AA-45E5-8D95-F019F775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2989E3-A826-4E0D-B568-B97F2141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385C81-2E1F-4E35-8C77-4C569F69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055E0-AD45-4BDB-B56F-57A63EF9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ใช้อีเมลฝึกของตนเองและข้อมูลสมมติ</a:t>
            </a:r>
          </a:p>
        </p:txBody>
      </p:sp>
    </p:spTree>
    <p:extLst>
      <p:ext uri="{BB962C8B-B14F-4D97-AF65-F5344CB8AC3E}">
        <p14:creationId xmlns:p14="http://schemas.microsoft.com/office/powerpoint/2010/main" val="6560134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F1694B-0B05-43AB-92B4-16B0AF87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TEAMS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1DD60-666A-4D35-AD28-C9572882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Check both Teams messages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2D019-7635-4620-9265-7BB9D684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F7F29-BF94-4816-9499-DF506D32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B96C2-3016-411C-A4A6-FF6929C4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7F881-C50D-443E-B00A-D615F235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Approved และ Rejected ต้องส่งข้อความที่ต่างกันและตรงกับ RequestId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7E3DF-EA1C-42F6-8C5A-65566481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3D0C9-5652-4673-84A3-FE1F1A09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D875E-DD8F-414F-A3A5-CF7C3B2A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Two direct-chat messages side by side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AFB51-1952-4D87-8CFC-EE9C0C0E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A8B58-F702-4053-9310-E994CCB3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760FE-BBCA-4E82-830D-DD75FE53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51091-5692-4765-BD0D-D951405E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2CEAE-788A-47B8-956D-25BBE9A4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E44AB-9A33-4276-A803-17658232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4A0821-E8B7-4ACE-83CC-DA77578A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เปิดข้อความจริงและเทียบกับ Run history</a:t>
            </a:r>
          </a:p>
        </p:txBody>
      </p:sp>
    </p:spTree>
    <p:extLst>
      <p:ext uri="{BB962C8B-B14F-4D97-AF65-F5344CB8AC3E}">
        <p14:creationId xmlns:p14="http://schemas.microsoft.com/office/powerpoint/2010/main" val="182345097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C5521A-E13E-48B5-BCF8-19AB911F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TEST + RECOVER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45AF3-6FEB-4C50-B0CA-980C945D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Integrated two-path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B7DA0-DBBF-4CE9-8AD2-091CF6DF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9E694-22EB-468A-985F-6597696E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47240-E222-4E55-882C-424C225D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B3366-F980-4523-8075-02B860A1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ทดสอบ Form สองรายการ: Approve หนึ่งรายการและ Reject หนึ่งรายการ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D849A-1289-4700-AA89-0128AB43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70A89-9A6C-4A59-8772-607F142F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941B3-102F-4588-B4C7-E31BEFE6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Acceptance matrix for Excel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482C77-DDB9-432E-9B6D-2ED2EDF3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DFE92-1F80-4195-BC80-AC9F62F5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0E1E7-AA3B-4A19-A2D7-67EB6F4F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A3B42-E6A7-47EF-90EB-A0A993C2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SharePoint and Teams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2BDA8-B5F0-43B6-9B91-2D213CD5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B7435-1106-4D67-AA1F-1011D19A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694730-927B-4FDA-8259-E7F3497C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31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Approved: Excel updated, file created, Teams sent. Rejected: Excel updated, no file, Teams sent.</a:t>
            </a:r>
          </a:p>
        </p:txBody>
      </p:sp>
    </p:spTree>
    <p:extLst>
      <p:ext uri="{BB962C8B-B14F-4D97-AF65-F5344CB8AC3E}">
        <p14:creationId xmlns:p14="http://schemas.microsoft.com/office/powerpoint/2010/main" val="139256818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960D7-53B2-486E-BC86-FA8DE292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TEST + RECOVER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0E016-956D-4CAD-9B8C-A3D71FAC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Recover from a controlled failure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1F24D-5C33-4BA2-B350-2C3AF4FC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798C8-27B5-4635-BD8D-4EC9E848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06EA8-CB45-4EE8-9301-8206C0D2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95F59-6F2D-4B12-979D-94752DCD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5191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Run history ชี้จุดล้มเหลว และ Run After กำหนดสิ่งที่เกิดเมื่อ action fail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65C04-1BC6-43B8-86E5-73C5E265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38450"/>
            <a:ext cx="5191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จุดงานหยุดบนกระดานหลังร้าน → Run history and Run After → อ่านจุดล้มเหลว ซ่อม แล้วพิสูจน์ด้วย successful run ใหม่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6ECC7-A4F1-4242-A9CC-E61DE176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191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9525">
            <a:solidFill>
              <a:srgbClr val="C83C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7325F-3B69-4920-84B6-37B57554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ทำ controlled failure หนึ่งครั้ง ซ่อม แล้วพิสูจน์ว่า run ใหม่สำเร็จ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6c8abbe6a4704"/>
          <a:srcRect xmlns:a="http://schemas.openxmlformats.org/drawingml/2006/main" l="16727" t="0" r="167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1381125"/>
            <a:ext cx="5124450" cy="4333875"/>
          </a:xfrm>
          <a:prstGeom xmlns:a="http://schemas.openxmlformats.org/drawingml/2006/main" prst="roundRect">
            <a:avLst>
              <a:gd name="adj" fmla="val 3516"/>
            </a:avLst>
          </a:prstGeom>
        </p:spPr>
      </p:pic>
    </p:spTree>
    <p:extLst>
      <p:ext uri="{BB962C8B-B14F-4D97-AF65-F5344CB8AC3E}">
        <p14:creationId xmlns:p14="http://schemas.microsoft.com/office/powerpoint/2010/main" val="76513130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6FDC9-F1E5-4B73-9807-26F84B24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TEST + RECOVER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0DB1C-A3F7-43DB-BB7F-D7211FCC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Govern the whole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A357A-07B0-4996-9E89-FF30DB90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1D401-B19C-4926-AC28-45657EB3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897D9-AA23-47C9-8C24-6899385D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0231F-2EB0-4E16-8CA5-EBE0BEC3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 owner, connection, least access, data boundary และ monitoring ก่อนนำไปใช้จริง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DCC72-9049-479C-AE31-5E97A7F2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1DE93-A3BA-439D-A607-9A97ECB3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6272E-DD99-474F-9F50-CFBE4CBC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Five guardrails around the completed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BDFA6-0A78-4FA9-A90C-E68CE17E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AD05F-F3A6-4ABE-A69E-4FCC69EB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5010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812A1-4EC3-4FCD-A433-C0C32038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A9C70-2ED3-4393-A1C0-EA8C6ECB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462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ตรวจผลที่ปลายทาง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C4B5E-62BE-4254-9194-5A1662F8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7CB84B-1312-4675-B162-B73102DA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12253-90C4-48A1-868F-FD3A2B73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Governance ไม่ใช่บทท้ายแยกออกมา แต่เป็นกติกาที่ใช้ทุก connector</a:t>
            </a:r>
          </a:p>
        </p:txBody>
      </p:sp>
    </p:spTree>
    <p:extLst>
      <p:ext uri="{BB962C8B-B14F-4D97-AF65-F5344CB8AC3E}">
        <p14:creationId xmlns:p14="http://schemas.microsoft.com/office/powerpoint/2010/main" val="85460341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9024BB-BB56-41BB-9D60-D8D6C229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TEST + RECOVER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2C2A9-FDF2-4565-9248-8FDBA98C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AI Builder overview and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78EED-8F7C-4999-A6EC-334ED976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155F9-24FC-4FA6-9591-4C26858C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B8658-F4BC-4E77-B79B-4253B98D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3C303-BB10-4D0F-B6A1-33A14F7E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7325"/>
            <a:ext cx="10248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AI Builder เพิ่มการอ่านหรือจัดประเภทข้อมูลใน flow ได้ แต่วันนี้เป็น demo/discussion เท่านั้น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F7423-ED6D-4F7D-802F-9DDED860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3263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EEF23-9A3B-48B0-AEC9-F6E6CC29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AE9C8-F379-435D-AC5A-F3A249EE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288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Incoming document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74515-8AAB-4CD1-8CE5-6A543E61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F3451-50EA-4D87-B1C3-160E04D9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25" y="2686050"/>
            <a:ext cx="3263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DD077-C13E-45C0-B9B8-5A5CA61E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1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2A777-912B-4445-BC93-82EEEF7D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2125" y="3190875"/>
            <a:ext cx="288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AI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C1597-ADF2-451B-883C-38D5733B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100" y="3200400"/>
            <a:ext cx="1714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6A118E-8ED6-4734-951E-55F8BEEA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125" y="2686050"/>
            <a:ext cx="3263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D1059C-FF4E-4EA2-AECA-5F41C050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28384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351C7-58E0-43F3-8DF3-56B6F538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3190875"/>
            <a:ext cx="288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familiar flow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7E9990-7335-40C3-A644-6FF1FDA5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248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38B5BA-0F00-4BDE-96B0-A35A0959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สังเกตและตรวจผล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4B56BA-B9EC-45FE-B0F7-53D43216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788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3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สาธิต use case ขนาดเล็กหรือ saved result; ไม่ให้ผู้เรียนเตรียม model/license และไม่เพิ่ม hands-on</a:t>
            </a:r>
          </a:p>
        </p:txBody>
      </p:sp>
    </p:spTree>
    <p:extLst>
      <p:ext uri="{BB962C8B-B14F-4D97-AF65-F5344CB8AC3E}">
        <p14:creationId xmlns:p14="http://schemas.microsoft.com/office/powerpoint/2010/main" val="202266772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E05695-0CE7-48ED-A5E8-31FE423D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DAY 1  ·  POWER AUTOMATE  /  TEST + RECOVER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FDB12-9B93-40D7-8CD9-B64EE865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Review and Q&amp;A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28D8A-7AE3-4D49-9143-3E698C7D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5"/>
          </a:solidFill>
          <a:ln xmlns:a="http://schemas.openxmlformats.org/drawingml/2006/main" w="0">
            <a:solidFill>
              <a:srgbClr val="D7D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472BC-92A6-49DE-B19D-8E3D9FE2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Trainocate × CP ALL  ·  One convenience store, two kinds of helpers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1F33B-2A6A-48AA-9F86-D38820DA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3055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BCAD0-B1E5-4CA5-A5A4-B44DAB3E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24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เลือก Trigger, Connector และ checkpoint ให้เหมาะกับงานจริงหนึ่งเรื่อง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7C69C-E397-49FE-8181-0782A3F7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19050">
            <a:solidFill>
              <a:srgbClr val="C83C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6008C-E9A3-4311-AEE3-C57964E8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C42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C83C42"/>
                </a:solidFill>
                <a:latin typeface="Tahoma"/>
                <a:ea typeface="Tahoma"/>
                <a:cs typeface="Tahoma"/>
              </a:rPr>
              <a:t>ร้านสะดวกซื้อ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11152-1C2B-456A-83E5-D3CE71FA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ผู้ช่วยหลังร้านทำตามขั้นตอนที่กำหนด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A3E92-E7A1-405C-96AB-511A0B8D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16676-AB61-423A-986B-FAB9C770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2E5F5-4239-4ABD-94D1-1BA9F617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OFFICIAL 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7EF78-A453-4BBA-ABB2-0B088312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Official Microsoft concept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43E7C-BE30-4150-AC4D-DA0B9C3E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33700"/>
            <a:ext cx="5524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solidFill>
              <a:srgbClr val="C83C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741A6-45C7-487D-9CA2-F2E110AF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95500"/>
            <a:ext cx="3143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D2253-F02C-4B67-8302-42B680C8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7324D"/>
                </a:solidFill>
                <a:latin typeface="Tahoma"/>
                <a:ea typeface="Tahoma"/>
                <a:cs typeface="Tahoma"/>
              </a:rPr>
              <a:t>CHECKPOINT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986B5-F2D8-434A-A820-CFF4B549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8605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7324D"/>
                </a:solidFill>
                <a:latin typeface="Tahoma"/>
                <a:ea typeface="Tahoma"/>
                <a:cs typeface="Tahoma"/>
              </a:rPr>
              <a:t>Hands-on checkpoint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62BED4-7EE6-40E2-8713-DB974A77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0617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06174"/>
                </a:solidFill>
                <a:latin typeface="Tahoma"/>
                <a:ea typeface="Tahoma"/>
                <a:cs typeface="Tahoma"/>
              </a:rPr>
              <a:t>ใช้ภาพเปรียบเทียบเพื่อจำหลักการ แล้วกลับไปตรวจผลจริงใน Exercise</a:t>
            </a:r>
          </a:p>
        </p:txBody>
      </p:sp>
    </p:spTree>
    <p:extLst>
      <p:ext uri="{BB962C8B-B14F-4D97-AF65-F5344CB8AC3E}">
        <p14:creationId xmlns:p14="http://schemas.microsoft.com/office/powerpoint/2010/main" val="1481078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2026-09-16T06:13:26.2810000Z</dcterms:created>
  <dcterms:modified xsi:type="dcterms:W3CDTF">2026-09-16T06:13:26.2810000Z</dcterms:modified>
</coreProperties>
</file>